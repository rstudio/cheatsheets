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2"/>
    <p:sldId id="260" r:id="rId3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09A"/>
    <a:srgbClr val="404041"/>
    <a:srgbClr val="EF633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69"/>
    <p:restoredTop sz="96743"/>
  </p:normalViewPr>
  <p:slideViewPr>
    <p:cSldViewPr snapToGrid="0" snapToObjects="1">
      <p:cViewPr>
        <p:scale>
          <a:sx n="215" d="100"/>
          <a:sy n="215" d="100"/>
        </p:scale>
        <p:origin x="144" y="-1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cran.r-project.org/web/packages/jsonlite/" TargetMode="External"/><Relationship Id="rId13" Type="http://schemas.openxmlformats.org/officeDocument/2006/relationships/image" Target="../media/image10.jpeg"/><Relationship Id="rId18" Type="http://schemas.openxmlformats.org/officeDocument/2006/relationships/image" Target="../media/image15.svg"/><Relationship Id="rId3" Type="http://schemas.openxmlformats.org/officeDocument/2006/relationships/image" Target="../media/image3.png"/><Relationship Id="rId21" Type="http://schemas.openxmlformats.org/officeDocument/2006/relationships/image" Target="../media/image18.png"/><Relationship Id="rId7" Type="http://schemas.openxmlformats.org/officeDocument/2006/relationships/hyperlink" Target="https://httr2.r-lib.org/" TargetMode="External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pypi.org/project/requests/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9" Type="http://schemas.openxmlformats.org/officeDocument/2006/relationships/image" Target="../media/image48.png"/><Relationship Id="rId21" Type="http://schemas.openxmlformats.org/officeDocument/2006/relationships/image" Target="../media/image37.svg"/><Relationship Id="rId34" Type="http://schemas.openxmlformats.org/officeDocument/2006/relationships/hyperlink" Target="https://docs.posit.co/" TargetMode="External"/><Relationship Id="rId42" Type="http://schemas.openxmlformats.org/officeDocument/2006/relationships/image" Target="../media/image51.png"/><Relationship Id="rId47" Type="http://schemas.openxmlformats.org/officeDocument/2006/relationships/image" Target="../media/image56.png"/><Relationship Id="rId50" Type="http://schemas.openxmlformats.org/officeDocument/2006/relationships/image" Target="../media/image59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6" Type="http://schemas.openxmlformats.org/officeDocument/2006/relationships/image" Target="../media/image32.png"/><Relationship Id="rId29" Type="http://schemas.openxmlformats.org/officeDocument/2006/relationships/hyperlink" Target="mailto:sales@posit.co" TargetMode="External"/><Relationship Id="rId11" Type="http://schemas.openxmlformats.org/officeDocument/2006/relationships/image" Target="../media/image28.png"/><Relationship Id="rId24" Type="http://schemas.openxmlformats.org/officeDocument/2006/relationships/image" Target="../media/image40.png"/><Relationship Id="rId32" Type="http://schemas.openxmlformats.org/officeDocument/2006/relationships/image" Target="../media/image45.png"/><Relationship Id="rId37" Type="http://schemas.openxmlformats.org/officeDocument/2006/relationships/image" Target="../media/image46.png"/><Relationship Id="rId40" Type="http://schemas.openxmlformats.org/officeDocument/2006/relationships/image" Target="../media/image49.png"/><Relationship Id="rId45" Type="http://schemas.openxmlformats.org/officeDocument/2006/relationships/image" Target="../media/image54.png"/><Relationship Id="rId5" Type="http://schemas.openxmlformats.org/officeDocument/2006/relationships/image" Target="../media/image5.png"/><Relationship Id="rId15" Type="http://schemas.openxmlformats.org/officeDocument/2006/relationships/image" Target="../media/image15.svg"/><Relationship Id="rId23" Type="http://schemas.openxmlformats.org/officeDocument/2006/relationships/image" Target="../media/image39.png"/><Relationship Id="rId28" Type="http://schemas.openxmlformats.org/officeDocument/2006/relationships/hyperlink" Target="https://academy.posit.co/" TargetMode="External"/><Relationship Id="rId36" Type="http://schemas.openxmlformats.org/officeDocument/2006/relationships/image" Target="../media/image16.png"/><Relationship Id="rId49" Type="http://schemas.openxmlformats.org/officeDocument/2006/relationships/image" Target="../media/image58.png"/><Relationship Id="rId10" Type="http://schemas.openxmlformats.org/officeDocument/2006/relationships/image" Target="../media/image27.png"/><Relationship Id="rId19" Type="http://schemas.openxmlformats.org/officeDocument/2006/relationships/image" Target="../media/image35.png"/><Relationship Id="rId31" Type="http://schemas.openxmlformats.org/officeDocument/2006/relationships/image" Target="../media/image44.png"/><Relationship Id="rId44" Type="http://schemas.openxmlformats.org/officeDocument/2006/relationships/image" Target="../media/image5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Relationship Id="rId30" Type="http://schemas.openxmlformats.org/officeDocument/2006/relationships/hyperlink" Target="mailto:info@posit.co" TargetMode="External"/><Relationship Id="rId35" Type="http://schemas.openxmlformats.org/officeDocument/2006/relationships/hyperlink" Target="https://docs.posit.co/release-notes.html" TargetMode="External"/><Relationship Id="rId43" Type="http://schemas.openxmlformats.org/officeDocument/2006/relationships/image" Target="../media/image52.png"/><Relationship Id="rId48" Type="http://schemas.openxmlformats.org/officeDocument/2006/relationships/image" Target="../media/image57.png"/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12" Type="http://schemas.openxmlformats.org/officeDocument/2006/relationships/image" Target="../media/image29.png"/><Relationship Id="rId17" Type="http://schemas.openxmlformats.org/officeDocument/2006/relationships/image" Target="../media/image33.png"/><Relationship Id="rId25" Type="http://schemas.openxmlformats.org/officeDocument/2006/relationships/image" Target="../media/image41.svg"/><Relationship Id="rId33" Type="http://schemas.openxmlformats.org/officeDocument/2006/relationships/hyperlink" Target="https://forum.posit.co/" TargetMode="External"/><Relationship Id="rId38" Type="http://schemas.openxmlformats.org/officeDocument/2006/relationships/image" Target="../media/image47.svg"/><Relationship Id="rId46" Type="http://schemas.openxmlformats.org/officeDocument/2006/relationships/image" Target="../media/image55.png"/><Relationship Id="rId20" Type="http://schemas.openxmlformats.org/officeDocument/2006/relationships/image" Target="../media/image36.png"/><Relationship Id="rId41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8A9E775-E34B-9B8B-6072-B57BF8A7E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81" y="3094647"/>
            <a:ext cx="3785545" cy="618649"/>
          </a:xfrm>
          <a:prstGeom prst="rect">
            <a:avLst/>
          </a:prstGeom>
        </p:spPr>
      </p:pic>
      <p:sp>
        <p:nvSpPr>
          <p:cNvPr id="1185" name="Rounded Rectangle 1184">
            <a:extLst>
              <a:ext uri="{FF2B5EF4-FFF2-40B4-BE49-F238E27FC236}">
                <a16:creationId xmlns:a16="http://schemas.microsoft.com/office/drawing/2014/main" id="{449E0539-F609-BA73-7B53-0AFD73164F37}"/>
              </a:ext>
            </a:extLst>
          </p:cNvPr>
          <p:cNvSpPr/>
          <p:nvPr/>
        </p:nvSpPr>
        <p:spPr>
          <a:xfrm>
            <a:off x="5603534" y="8311699"/>
            <a:ext cx="8066373" cy="1801368"/>
          </a:xfrm>
          <a:prstGeom prst="roundRect">
            <a:avLst>
              <a:gd name="adj" fmla="val 3116"/>
            </a:avLst>
          </a:prstGeom>
          <a:noFill/>
          <a:ln w="12700" cap="flat">
            <a:solidFill>
              <a:srgbClr val="44709A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86" name="Rectangle 1185">
            <a:extLst>
              <a:ext uri="{FF2B5EF4-FFF2-40B4-BE49-F238E27FC236}">
                <a16:creationId xmlns:a16="http://schemas.microsoft.com/office/drawing/2014/main" id="{097EF197-043F-56CA-F1F8-DC4CF6A7E755}"/>
              </a:ext>
            </a:extLst>
          </p:cNvPr>
          <p:cNvSpPr/>
          <p:nvPr/>
        </p:nvSpPr>
        <p:spPr>
          <a:xfrm>
            <a:off x="5661303" y="8135481"/>
            <a:ext cx="1754621" cy="34348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82" name="Rounded Rectangle 1181">
            <a:extLst>
              <a:ext uri="{FF2B5EF4-FFF2-40B4-BE49-F238E27FC236}">
                <a16:creationId xmlns:a16="http://schemas.microsoft.com/office/drawing/2014/main" id="{E39F5F82-13D5-1F35-D497-B150D80B61FB}"/>
              </a:ext>
            </a:extLst>
          </p:cNvPr>
          <p:cNvSpPr/>
          <p:nvPr/>
        </p:nvSpPr>
        <p:spPr>
          <a:xfrm>
            <a:off x="5605739" y="1335049"/>
            <a:ext cx="8066373" cy="6675120"/>
          </a:xfrm>
          <a:prstGeom prst="roundRect">
            <a:avLst>
              <a:gd name="adj" fmla="val 1193"/>
            </a:avLst>
          </a:prstGeom>
          <a:noFill/>
          <a:ln w="12700" cap="flat">
            <a:solidFill>
              <a:srgbClr val="44709A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83" name="Rectangle 1182">
            <a:extLst>
              <a:ext uri="{FF2B5EF4-FFF2-40B4-BE49-F238E27FC236}">
                <a16:creationId xmlns:a16="http://schemas.microsoft.com/office/drawing/2014/main" id="{9EBE9630-E2AB-2456-30B1-549B957D65D3}"/>
              </a:ext>
            </a:extLst>
          </p:cNvPr>
          <p:cNvSpPr/>
          <p:nvPr/>
        </p:nvSpPr>
        <p:spPr>
          <a:xfrm>
            <a:off x="5685519" y="1131002"/>
            <a:ext cx="1957736" cy="39471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19" name="Rounded Rectangle 1118">
            <a:extLst>
              <a:ext uri="{FF2B5EF4-FFF2-40B4-BE49-F238E27FC236}">
                <a16:creationId xmlns:a16="http://schemas.microsoft.com/office/drawing/2014/main" id="{BC944A72-43A8-E80E-B3CC-D3BC28AF8ECF}"/>
              </a:ext>
            </a:extLst>
          </p:cNvPr>
          <p:cNvSpPr/>
          <p:nvPr/>
        </p:nvSpPr>
        <p:spPr>
          <a:xfrm>
            <a:off x="10141758" y="4172307"/>
            <a:ext cx="3463834" cy="3749040"/>
          </a:xfrm>
          <a:prstGeom prst="roundRect">
            <a:avLst>
              <a:gd name="adj" fmla="val 2545"/>
            </a:avLst>
          </a:prstGeom>
          <a:solidFill>
            <a:srgbClr val="404041">
              <a:alpha val="3058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9" name="Rounded Rectangle 1098">
            <a:extLst>
              <a:ext uri="{FF2B5EF4-FFF2-40B4-BE49-F238E27FC236}">
                <a16:creationId xmlns:a16="http://schemas.microsoft.com/office/drawing/2014/main" id="{7CD348F3-582C-7B15-0C5E-81896AEF91F6}"/>
              </a:ext>
            </a:extLst>
          </p:cNvPr>
          <p:cNvSpPr/>
          <p:nvPr/>
        </p:nvSpPr>
        <p:spPr>
          <a:xfrm>
            <a:off x="10136125" y="2649000"/>
            <a:ext cx="3463834" cy="1417320"/>
          </a:xfrm>
          <a:prstGeom prst="roundRect">
            <a:avLst>
              <a:gd name="adj" fmla="val 7096"/>
            </a:avLst>
          </a:prstGeom>
          <a:solidFill>
            <a:srgbClr val="44709A">
              <a:alpha val="3058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4357A4B3-CABF-EB03-6234-11CFBF13A23B}"/>
              </a:ext>
            </a:extLst>
          </p:cNvPr>
          <p:cNvSpPr/>
          <p:nvPr/>
        </p:nvSpPr>
        <p:spPr>
          <a:xfrm>
            <a:off x="377720" y="1084370"/>
            <a:ext cx="1397295" cy="476204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50CE0FF4-6A31-6981-2A86-3F0988BD167A}"/>
              </a:ext>
            </a:extLst>
          </p:cNvPr>
          <p:cNvGrpSpPr/>
          <p:nvPr/>
        </p:nvGrpSpPr>
        <p:grpSpPr>
          <a:xfrm>
            <a:off x="5722854" y="1123162"/>
            <a:ext cx="320907" cy="382075"/>
            <a:chOff x="916195" y="1803353"/>
            <a:chExt cx="370151" cy="440706"/>
          </a:xfrm>
        </p:grpSpPr>
        <p:sp>
          <p:nvSpPr>
            <p:cNvPr id="1050" name="Oval 1049">
              <a:extLst>
                <a:ext uri="{FF2B5EF4-FFF2-40B4-BE49-F238E27FC236}">
                  <a16:creationId xmlns:a16="http://schemas.microsoft.com/office/drawing/2014/main" id="{BBE0D7DC-A8C6-6A6B-CDED-F242402F346C}"/>
                </a:ext>
              </a:extLst>
            </p:cNvPr>
            <p:cNvSpPr/>
            <p:nvPr/>
          </p:nvSpPr>
          <p:spPr>
            <a:xfrm>
              <a:off x="916195" y="1853744"/>
              <a:ext cx="370151" cy="370151"/>
            </a:xfrm>
            <a:prstGeom prst="ellipse">
              <a:avLst/>
            </a:prstGeom>
            <a:solidFill>
              <a:srgbClr val="44709A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FDB35B8A-A0C2-2B48-E17A-072EE2783AB7}"/>
                </a:ext>
              </a:extLst>
            </p:cNvPr>
            <p:cNvSpPr txBox="1"/>
            <p:nvPr/>
          </p:nvSpPr>
          <p:spPr>
            <a:xfrm>
              <a:off x="974846" y="1803353"/>
              <a:ext cx="252849" cy="4407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1" i="0" u="none" strike="noStrike" cap="none" spc="0" normalizeH="0" baseline="0" dirty="0">
                  <a:ln>
                    <a:noFill/>
                  </a:ln>
                  <a:solidFill>
                    <a:srgbClr val="F2F2F2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3</a:t>
              </a:r>
            </a:p>
          </p:txBody>
        </p:sp>
      </p:grpSp>
      <p:pic>
        <p:nvPicPr>
          <p:cNvPr id="1056" name="Picture 13">
            <a:extLst>
              <a:ext uri="{FF2B5EF4-FFF2-40B4-BE49-F238E27FC236}">
                <a16:creationId xmlns:a16="http://schemas.microsoft.com/office/drawing/2014/main" id="{E5863790-298A-8026-7188-899456FDA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565" y="2108404"/>
            <a:ext cx="591352" cy="591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15">
            <a:extLst>
              <a:ext uri="{FF2B5EF4-FFF2-40B4-BE49-F238E27FC236}">
                <a16:creationId xmlns:a16="http://schemas.microsoft.com/office/drawing/2014/main" id="{7A56E264-453C-C35F-E92C-28AF43EB4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684" y="2865219"/>
            <a:ext cx="579114" cy="57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17">
            <a:extLst>
              <a:ext uri="{FF2B5EF4-FFF2-40B4-BE49-F238E27FC236}">
                <a16:creationId xmlns:a16="http://schemas.microsoft.com/office/drawing/2014/main" id="{F8E77C20-E8C6-D37A-3FD1-F4B7B5C35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333" y="3595772"/>
            <a:ext cx="448456" cy="519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3" name="TextBox 1062">
            <a:extLst>
              <a:ext uri="{FF2B5EF4-FFF2-40B4-BE49-F238E27FC236}">
                <a16:creationId xmlns:a16="http://schemas.microsoft.com/office/drawing/2014/main" id="{A7F99F98-FC90-E7A3-2BC2-B8DD86C717B2}"/>
              </a:ext>
            </a:extLst>
          </p:cNvPr>
          <p:cNvSpPr txBox="1"/>
          <p:nvPr/>
        </p:nvSpPr>
        <p:spPr>
          <a:xfrm>
            <a:off x="5722853" y="1476038"/>
            <a:ext cx="4042955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Access your data within Posit Team no matter where it lives and what format it’s in: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11678CF6-8E98-571E-49B8-A65FD3B3C996}"/>
              </a:ext>
            </a:extLst>
          </p:cNvPr>
          <p:cNvSpPr txBox="1"/>
          <p:nvPr/>
        </p:nvSpPr>
        <p:spPr>
          <a:xfrm>
            <a:off x="6286939" y="2034626"/>
            <a:ext cx="2657856" cy="7155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Local or Shared Directory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Examples: </a:t>
            </a:r>
            <a:r>
              <a:rPr lang="en-US" b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data.csv</a:t>
            </a: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b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data.txt</a:t>
            </a: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b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data.parquet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DCDF2324-ABCA-84EC-2438-A7A985A6232F}"/>
              </a:ext>
            </a:extLst>
          </p:cNvPr>
          <p:cNvSpPr txBox="1"/>
          <p:nvPr/>
        </p:nvSpPr>
        <p:spPr>
          <a:xfrm>
            <a:off x="6286939" y="2713466"/>
            <a:ext cx="3601886" cy="7155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APIs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0" i="0" u="none" strike="noStrike" dirty="0">
                <a:solidFill>
                  <a:srgbClr val="40404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Interact with APIs using packages such as {</a:t>
            </a:r>
            <a:r>
              <a:rPr lang="en-US" b="0" i="0" u="sng" strike="noStrike" dirty="0">
                <a:solidFill>
                  <a:srgbClr val="447099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hlinkClick r:id="rId6"/>
              </a:rPr>
              <a:t>requests</a:t>
            </a:r>
            <a:r>
              <a:rPr lang="en-US" b="0" i="0" u="sng" strike="noStrike" dirty="0">
                <a:solidFill>
                  <a:srgbClr val="447099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  <a:r>
              <a:rPr lang="en-US" b="0" i="0" u="none" strike="noStrike" dirty="0">
                <a:solidFill>
                  <a:srgbClr val="40404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in Python or {</a:t>
            </a:r>
            <a:r>
              <a:rPr lang="en-US" b="0" i="0" u="sng" strike="noStrike" dirty="0">
                <a:solidFill>
                  <a:srgbClr val="447099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hlinkClick r:id="rId7"/>
              </a:rPr>
              <a:t>httr2</a:t>
            </a:r>
            <a:r>
              <a:rPr lang="en-US" b="0" i="0" u="sng" strike="noStrike" dirty="0">
                <a:solidFill>
                  <a:srgbClr val="447099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  <a:r>
              <a:rPr lang="en-US" b="0" i="0" u="none" strike="noStrike" dirty="0">
                <a:solidFill>
                  <a:srgbClr val="40404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and {</a:t>
            </a:r>
            <a:r>
              <a:rPr lang="en-US" b="0" i="0" u="sng" strike="noStrike" dirty="0">
                <a:solidFill>
                  <a:srgbClr val="447099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hlinkClick r:id="rId8"/>
              </a:rPr>
              <a:t>jsonlite</a:t>
            </a:r>
            <a:r>
              <a:rPr lang="en-US" b="0" i="0" u="sng" strike="noStrike" dirty="0">
                <a:solidFill>
                  <a:srgbClr val="447099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  <a:r>
              <a:rPr lang="en-US" b="0" i="0" u="none" strike="noStrike" dirty="0">
                <a:solidFill>
                  <a:srgbClr val="40404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in R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C6BEC0F5-B032-E420-3FBD-44078C1F25F2}"/>
              </a:ext>
            </a:extLst>
          </p:cNvPr>
          <p:cNvSpPr txBox="1"/>
          <p:nvPr/>
        </p:nvSpPr>
        <p:spPr>
          <a:xfrm>
            <a:off x="6286939" y="3464813"/>
            <a:ext cx="2900426" cy="7155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Pins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0" i="0" u="none" strike="noStrike" dirty="0">
                <a:solidFill>
                  <a:srgbClr val="40404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Store and retrieve Python/R objects including data and models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pic>
        <p:nvPicPr>
          <p:cNvPr id="1068" name="Graphic 1067">
            <a:extLst>
              <a:ext uri="{FF2B5EF4-FFF2-40B4-BE49-F238E27FC236}">
                <a16:creationId xmlns:a16="http://schemas.microsoft.com/office/drawing/2014/main" id="{BCF852C3-4651-5D9A-9517-47D61D30A7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88391" y="4310120"/>
            <a:ext cx="647700" cy="647700"/>
          </a:xfrm>
          <a:prstGeom prst="rect">
            <a:avLst/>
          </a:prstGeom>
        </p:spPr>
      </p:pic>
      <p:sp>
        <p:nvSpPr>
          <p:cNvPr id="1069" name="TextBox 1068">
            <a:extLst>
              <a:ext uri="{FF2B5EF4-FFF2-40B4-BE49-F238E27FC236}">
                <a16:creationId xmlns:a16="http://schemas.microsoft.com/office/drawing/2014/main" id="{6680D2F0-2F35-99B8-3CEC-C2169CB16D28}"/>
              </a:ext>
            </a:extLst>
          </p:cNvPr>
          <p:cNvSpPr txBox="1"/>
          <p:nvPr/>
        </p:nvSpPr>
        <p:spPr>
          <a:xfrm>
            <a:off x="6279689" y="4232766"/>
            <a:ext cx="3389338" cy="6898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Databases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dirty="0">
                <a:solidFill>
                  <a:srgbClr val="40404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Connect to a variety of database types using DBI/DB-API/ODBC</a:t>
            </a:r>
            <a:endParaRPr lang="en-US" b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70" name="Rounded Rectangle 1069">
            <a:extLst>
              <a:ext uri="{FF2B5EF4-FFF2-40B4-BE49-F238E27FC236}">
                <a16:creationId xmlns:a16="http://schemas.microsoft.com/office/drawing/2014/main" id="{52C585BF-CC7D-CFF2-D3D8-84BEDC49EFE7}"/>
              </a:ext>
            </a:extLst>
          </p:cNvPr>
          <p:cNvSpPr/>
          <p:nvPr/>
        </p:nvSpPr>
        <p:spPr>
          <a:xfrm>
            <a:off x="5728802" y="4287508"/>
            <a:ext cx="3810726" cy="689852"/>
          </a:xfrm>
          <a:prstGeom prst="roundRect">
            <a:avLst>
              <a:gd name="adj" fmla="val 3116"/>
            </a:avLst>
          </a:prstGeom>
          <a:noFill/>
          <a:ln w="12700" cap="flat">
            <a:solidFill>
              <a:srgbClr val="EF633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210578E1-7CFB-E065-CD90-8700BE729D5B}"/>
              </a:ext>
            </a:extLst>
          </p:cNvPr>
          <p:cNvCxnSpPr>
            <a:cxnSpLocks/>
          </p:cNvCxnSpPr>
          <p:nvPr/>
        </p:nvCxnSpPr>
        <p:spPr>
          <a:xfrm>
            <a:off x="9532936" y="4651465"/>
            <a:ext cx="295398" cy="0"/>
          </a:xfrm>
          <a:prstGeom prst="line">
            <a:avLst/>
          </a:prstGeom>
          <a:noFill/>
          <a:ln w="12700" cap="flat">
            <a:solidFill>
              <a:srgbClr val="EF633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77DE8B01-BF19-6893-AFB0-FF042EFC66C5}"/>
              </a:ext>
            </a:extLst>
          </p:cNvPr>
          <p:cNvCxnSpPr>
            <a:cxnSpLocks/>
          </p:cNvCxnSpPr>
          <p:nvPr/>
        </p:nvCxnSpPr>
        <p:spPr>
          <a:xfrm>
            <a:off x="9859068" y="1677926"/>
            <a:ext cx="3452" cy="2973539"/>
          </a:xfrm>
          <a:prstGeom prst="line">
            <a:avLst/>
          </a:prstGeom>
          <a:noFill/>
          <a:ln w="12700" cap="flat">
            <a:solidFill>
              <a:srgbClr val="EF633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64CF3179-2C1C-28A4-4AFD-78ACBB53484F}"/>
              </a:ext>
            </a:extLst>
          </p:cNvPr>
          <p:cNvCxnSpPr>
            <a:cxnSpLocks/>
          </p:cNvCxnSpPr>
          <p:nvPr/>
        </p:nvCxnSpPr>
        <p:spPr>
          <a:xfrm flipH="1">
            <a:off x="9859068" y="1677926"/>
            <a:ext cx="193101" cy="0"/>
          </a:xfrm>
          <a:prstGeom prst="line">
            <a:avLst/>
          </a:prstGeom>
          <a:noFill/>
          <a:ln w="12700" cap="flat">
            <a:solidFill>
              <a:srgbClr val="EF6330"/>
            </a:solidFill>
            <a:prstDash val="dash"/>
            <a:miter lim="400000"/>
            <a:headEnd type="arrow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90" name="Picture 8">
            <a:extLst>
              <a:ext uri="{FF2B5EF4-FFF2-40B4-BE49-F238E27FC236}">
                <a16:creationId xmlns:a16="http://schemas.microsoft.com/office/drawing/2014/main" id="{D533B265-0E39-FE83-E6F4-F2980E5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1754" y="2781874"/>
            <a:ext cx="499173" cy="38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1" name="Graphic 1090">
            <a:extLst>
              <a:ext uri="{FF2B5EF4-FFF2-40B4-BE49-F238E27FC236}">
                <a16:creationId xmlns:a16="http://schemas.microsoft.com/office/drawing/2014/main" id="{58E9D50F-413F-C669-DF34-9F4AFEC64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90681" y="2649673"/>
            <a:ext cx="647700" cy="647700"/>
          </a:xfrm>
          <a:prstGeom prst="rect">
            <a:avLst/>
          </a:prstGeom>
        </p:spPr>
      </p:pic>
      <p:sp>
        <p:nvSpPr>
          <p:cNvPr id="1092" name="TextBox 1091">
            <a:extLst>
              <a:ext uri="{FF2B5EF4-FFF2-40B4-BE49-F238E27FC236}">
                <a16:creationId xmlns:a16="http://schemas.microsoft.com/office/drawing/2014/main" id="{880CDDFC-3F38-AF4B-2730-9FCB557BFFE0}"/>
              </a:ext>
            </a:extLst>
          </p:cNvPr>
          <p:cNvSpPr txBox="1"/>
          <p:nvPr/>
        </p:nvSpPr>
        <p:spPr>
          <a:xfrm>
            <a:off x="11151368" y="2708106"/>
            <a:ext cx="1318871" cy="53083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DBI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Database Interface</a:t>
            </a:r>
          </a:p>
        </p:txBody>
      </p:sp>
      <p:cxnSp>
        <p:nvCxnSpPr>
          <p:cNvPr id="1094" name="Straight Arrow Connector 1093">
            <a:extLst>
              <a:ext uri="{FF2B5EF4-FFF2-40B4-BE49-F238E27FC236}">
                <a16:creationId xmlns:a16="http://schemas.microsoft.com/office/drawing/2014/main" id="{754B7587-9630-D0A3-7CC2-579BAB3F219D}"/>
              </a:ext>
            </a:extLst>
          </p:cNvPr>
          <p:cNvCxnSpPr>
            <a:cxnSpLocks/>
            <a:endCxn id="1091" idx="1"/>
          </p:cNvCxnSpPr>
          <p:nvPr/>
        </p:nvCxnSpPr>
        <p:spPr>
          <a:xfrm>
            <a:off x="11018167" y="2973523"/>
            <a:ext cx="1672514" cy="0"/>
          </a:xfrm>
          <a:prstGeom prst="straightConnector1">
            <a:avLst/>
          </a:prstGeom>
          <a:noFill/>
          <a:ln w="12700" cap="flat">
            <a:solidFill>
              <a:srgbClr val="40404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97" name="TextBox 1096">
            <a:extLst>
              <a:ext uri="{FF2B5EF4-FFF2-40B4-BE49-F238E27FC236}">
                <a16:creationId xmlns:a16="http://schemas.microsoft.com/office/drawing/2014/main" id="{B02D136F-46EC-E78B-1334-0607D28108F8}"/>
              </a:ext>
            </a:extLst>
          </p:cNvPr>
          <p:cNvSpPr txBox="1"/>
          <p:nvPr/>
        </p:nvSpPr>
        <p:spPr>
          <a:xfrm>
            <a:off x="10243037" y="3131427"/>
            <a:ext cx="3025324" cy="9387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i="0" u="sng" strike="noStrike" dirty="0">
                <a:solidFill>
                  <a:srgbClr val="40404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Example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con &lt;- </a:t>
            </a:r>
            <a:r>
              <a:rPr lang="en-US" sz="1100" b="1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DBI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::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dbConnect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(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</a:t>
            </a:r>
            <a:r>
              <a:rPr lang="en-US" sz="1100" b="1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RPostgres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::Postgres(), 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hostname = ”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db.company.com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", 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port = 5432)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</p:txBody>
      </p:sp>
      <p:sp>
        <p:nvSpPr>
          <p:cNvPr id="1100" name="Rounded Rectangle 1099">
            <a:extLst>
              <a:ext uri="{FF2B5EF4-FFF2-40B4-BE49-F238E27FC236}">
                <a16:creationId xmlns:a16="http://schemas.microsoft.com/office/drawing/2014/main" id="{EBE9651B-0AE7-277E-F0B9-3BF2D96C6237}"/>
              </a:ext>
            </a:extLst>
          </p:cNvPr>
          <p:cNvSpPr/>
          <p:nvPr/>
        </p:nvSpPr>
        <p:spPr>
          <a:xfrm>
            <a:off x="10136125" y="1539880"/>
            <a:ext cx="3463834" cy="1005840"/>
          </a:xfrm>
          <a:prstGeom prst="roundRect">
            <a:avLst>
              <a:gd name="adj" fmla="val 7096"/>
            </a:avLst>
          </a:prstGeom>
          <a:solidFill>
            <a:srgbClr val="FFFF00">
              <a:alpha val="3058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101" name="Graphic 1100">
            <a:extLst>
              <a:ext uri="{FF2B5EF4-FFF2-40B4-BE49-F238E27FC236}">
                <a16:creationId xmlns:a16="http://schemas.microsoft.com/office/drawing/2014/main" id="{06318008-90EC-2828-02F1-35D2FB96ED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90681" y="1544543"/>
            <a:ext cx="647700" cy="647700"/>
          </a:xfrm>
          <a:prstGeom prst="rect">
            <a:avLst/>
          </a:prstGeom>
        </p:spPr>
      </p:pic>
      <p:sp>
        <p:nvSpPr>
          <p:cNvPr id="1102" name="TextBox 1101">
            <a:extLst>
              <a:ext uri="{FF2B5EF4-FFF2-40B4-BE49-F238E27FC236}">
                <a16:creationId xmlns:a16="http://schemas.microsoft.com/office/drawing/2014/main" id="{59DD9623-D289-235D-44E8-0F0EBCAEB6DD}"/>
              </a:ext>
            </a:extLst>
          </p:cNvPr>
          <p:cNvSpPr txBox="1"/>
          <p:nvPr/>
        </p:nvSpPr>
        <p:spPr>
          <a:xfrm>
            <a:off x="11007098" y="1602976"/>
            <a:ext cx="1607411" cy="53083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DB-API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0" i="0" u="none" strike="noStrike" dirty="0">
                <a:solidFill>
                  <a:srgbClr val="404041"/>
                </a:solidFill>
                <a:effectLst/>
                <a:latin typeface="Open Sans Light" panose="020B0606030504020204" pitchFamily="34" charset="0"/>
              </a:rPr>
              <a:t>Python Database API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A4DAA6CD-E65A-5C5C-356A-9CE7925A6A96}"/>
              </a:ext>
            </a:extLst>
          </p:cNvPr>
          <p:cNvCxnSpPr>
            <a:cxnSpLocks/>
            <a:endCxn id="1101" idx="1"/>
          </p:cNvCxnSpPr>
          <p:nvPr/>
        </p:nvCxnSpPr>
        <p:spPr>
          <a:xfrm>
            <a:off x="11018167" y="1868393"/>
            <a:ext cx="1672514" cy="0"/>
          </a:xfrm>
          <a:prstGeom prst="straightConnector1">
            <a:avLst/>
          </a:prstGeom>
          <a:noFill/>
          <a:ln w="12700" cap="flat">
            <a:solidFill>
              <a:srgbClr val="40404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105" name="Picture 9">
            <a:extLst>
              <a:ext uri="{FF2B5EF4-FFF2-40B4-BE49-F238E27FC236}">
                <a16:creationId xmlns:a16="http://schemas.microsoft.com/office/drawing/2014/main" id="{3A86A1ED-EA9D-0296-35D3-C52FE5B02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1752" y="1619777"/>
            <a:ext cx="499174" cy="49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8" name="TextBox 1107">
            <a:extLst>
              <a:ext uri="{FF2B5EF4-FFF2-40B4-BE49-F238E27FC236}">
                <a16:creationId xmlns:a16="http://schemas.microsoft.com/office/drawing/2014/main" id="{E788D6E4-7A38-287C-AC1B-321302FF1835}"/>
              </a:ext>
            </a:extLst>
          </p:cNvPr>
          <p:cNvSpPr txBox="1"/>
          <p:nvPr/>
        </p:nvSpPr>
        <p:spPr>
          <a:xfrm>
            <a:off x="10217480" y="2108172"/>
            <a:ext cx="3167948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i="0" u="sng" strike="noStrike" dirty="0">
                <a:solidFill>
                  <a:srgbClr val="40404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Example</a:t>
            </a:r>
            <a:endParaRPr lang="en-US" sz="1100" b="0" i="0" u="none" strike="noStrike" dirty="0">
              <a:solidFill>
                <a:srgbClr val="404041"/>
              </a:solidFill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con = sqlite3.connect(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</a:rPr>
              <a:t>'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</a:rPr>
              <a:t>example.db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</a:rPr>
              <a:t>')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</p:txBody>
      </p:sp>
      <p:cxnSp>
        <p:nvCxnSpPr>
          <p:cNvPr id="1110" name="Straight Connector 1109">
            <a:extLst>
              <a:ext uri="{FF2B5EF4-FFF2-40B4-BE49-F238E27FC236}">
                <a16:creationId xmlns:a16="http://schemas.microsoft.com/office/drawing/2014/main" id="{BF1B1E0F-3CC7-6F02-6B62-CEE8B33862BE}"/>
              </a:ext>
            </a:extLst>
          </p:cNvPr>
          <p:cNvCxnSpPr>
            <a:cxnSpLocks/>
          </p:cNvCxnSpPr>
          <p:nvPr/>
        </p:nvCxnSpPr>
        <p:spPr>
          <a:xfrm flipH="1">
            <a:off x="9868936" y="3212420"/>
            <a:ext cx="166230" cy="0"/>
          </a:xfrm>
          <a:prstGeom prst="line">
            <a:avLst/>
          </a:prstGeom>
          <a:noFill/>
          <a:ln w="12700" cap="flat">
            <a:solidFill>
              <a:srgbClr val="EF6330"/>
            </a:solidFill>
            <a:prstDash val="dash"/>
            <a:miter lim="400000"/>
            <a:headEnd type="arrow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16" name="TextBox 1115">
            <a:extLst>
              <a:ext uri="{FF2B5EF4-FFF2-40B4-BE49-F238E27FC236}">
                <a16:creationId xmlns:a16="http://schemas.microsoft.com/office/drawing/2014/main" id="{39FF0E2C-834C-0221-2CFA-43BD38EE6B6B}"/>
              </a:ext>
            </a:extLst>
          </p:cNvPr>
          <p:cNvSpPr txBox="1"/>
          <p:nvPr/>
        </p:nvSpPr>
        <p:spPr>
          <a:xfrm>
            <a:off x="10124607" y="4160267"/>
            <a:ext cx="1195566" cy="6898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b="1" i="0" u="none" strike="noStrike" dirty="0">
                <a:solidFill>
                  <a:srgbClr val="40404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ODBC</a:t>
            </a:r>
            <a:endParaRPr lang="en-US" b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b="0" i="0" u="none" strike="noStrike" dirty="0">
                <a:solidFill>
                  <a:srgbClr val="40404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Open Database Connectivity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pic>
        <p:nvPicPr>
          <p:cNvPr id="1117" name="Graphic 1116">
            <a:extLst>
              <a:ext uri="{FF2B5EF4-FFF2-40B4-BE49-F238E27FC236}">
                <a16:creationId xmlns:a16="http://schemas.microsoft.com/office/drawing/2014/main" id="{C5F1AFC9-2909-E896-5B65-321874911D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95805" y="4164907"/>
            <a:ext cx="647700" cy="647700"/>
          </a:xfrm>
          <a:prstGeom prst="rect">
            <a:avLst/>
          </a:prstGeom>
        </p:spPr>
      </p:pic>
      <p:cxnSp>
        <p:nvCxnSpPr>
          <p:cNvPr id="1121" name="Straight Arrow Connector 1120">
            <a:extLst>
              <a:ext uri="{FF2B5EF4-FFF2-40B4-BE49-F238E27FC236}">
                <a16:creationId xmlns:a16="http://schemas.microsoft.com/office/drawing/2014/main" id="{89CCD033-8CAE-D225-C60E-7B49727C8200}"/>
              </a:ext>
            </a:extLst>
          </p:cNvPr>
          <p:cNvCxnSpPr>
            <a:cxnSpLocks/>
            <a:stCxn id="1116" idx="3"/>
          </p:cNvCxnSpPr>
          <p:nvPr/>
        </p:nvCxnSpPr>
        <p:spPr>
          <a:xfrm>
            <a:off x="11320173" y="4505193"/>
            <a:ext cx="1375632" cy="0"/>
          </a:xfrm>
          <a:prstGeom prst="straightConnector1">
            <a:avLst/>
          </a:prstGeom>
          <a:noFill/>
          <a:ln w="12700" cap="flat">
            <a:solidFill>
              <a:srgbClr val="40404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25" name="Straight Connector 1124">
            <a:extLst>
              <a:ext uri="{FF2B5EF4-FFF2-40B4-BE49-F238E27FC236}">
                <a16:creationId xmlns:a16="http://schemas.microsoft.com/office/drawing/2014/main" id="{5464A5E7-984B-FC3F-A110-47F37E15D554}"/>
              </a:ext>
            </a:extLst>
          </p:cNvPr>
          <p:cNvCxnSpPr>
            <a:cxnSpLocks/>
          </p:cNvCxnSpPr>
          <p:nvPr/>
        </p:nvCxnSpPr>
        <p:spPr>
          <a:xfrm flipH="1">
            <a:off x="9868936" y="4408710"/>
            <a:ext cx="183233" cy="0"/>
          </a:xfrm>
          <a:prstGeom prst="line">
            <a:avLst/>
          </a:prstGeom>
          <a:noFill/>
          <a:ln w="12700" cap="flat">
            <a:solidFill>
              <a:srgbClr val="EF6330"/>
            </a:solidFill>
            <a:prstDash val="dash"/>
            <a:miter lim="400000"/>
            <a:headEnd type="arrow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30" name="TextBox 1129">
            <a:extLst>
              <a:ext uri="{FF2B5EF4-FFF2-40B4-BE49-F238E27FC236}">
                <a16:creationId xmlns:a16="http://schemas.microsoft.com/office/drawing/2014/main" id="{E5BE4F4B-4D12-3F81-0472-26F322F3C741}"/>
              </a:ext>
            </a:extLst>
          </p:cNvPr>
          <p:cNvSpPr txBox="1"/>
          <p:nvPr/>
        </p:nvSpPr>
        <p:spPr>
          <a:xfrm>
            <a:off x="10357682" y="6626224"/>
            <a:ext cx="3314431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con &lt;- </a:t>
            </a:r>
            <a:r>
              <a:rPr lang="en-US" sz="1100" b="1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DBI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::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dbConnect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(</a:t>
            </a:r>
            <a:r>
              <a:rPr lang="en-US" sz="1100" b="1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odbc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::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odbc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(),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</a:t>
            </a:r>
            <a:r>
              <a:rPr lang="en-US" sz="1100" b="1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driver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 = "PostgreSQL Driver",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database = "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test_db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",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UID    = 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Sys.getenv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("DB_USER"),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PWD    = 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Sys.getenv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("DB_PASSWORD"),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host = "localhost",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port = 5432)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A25AD51D-0373-8AC6-B835-A14A60C0940C}"/>
              </a:ext>
            </a:extLst>
          </p:cNvPr>
          <p:cNvSpPr txBox="1"/>
          <p:nvPr/>
        </p:nvSpPr>
        <p:spPr>
          <a:xfrm>
            <a:off x="10384891" y="5033343"/>
            <a:ext cx="3008892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con = </a:t>
            </a:r>
            <a:r>
              <a:rPr lang="en-US" sz="1100" b="1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pyodbc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.connect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(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</a:t>
            </a:r>
            <a:r>
              <a:rPr lang="en-US" sz="1100" b="1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driver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 = 'PostgreSQL',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database = '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test_db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',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server = 'localhost',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port = 5432, 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uid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 = 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os.getenv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('DB_USER'),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  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pwd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 = 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os.getenv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  <a:ea typeface="Source Code Pro" panose="020B0309030403020204" pitchFamily="34" charset="0"/>
              </a:rPr>
              <a:t>('DB_PASSWORD'))</a:t>
            </a:r>
            <a:endParaRPr lang="en-US" sz="1100" b="0" dirty="0">
              <a:effectLst/>
              <a:latin typeface="Source Code Pro" panose="020B0309030403020204" pitchFamily="34" charset="0"/>
              <a:ea typeface="Source Code Pro" panose="020B0309030403020204" pitchFamily="34" charset="0"/>
            </a:endParaRPr>
          </a:p>
        </p:txBody>
      </p:sp>
      <p:pic>
        <p:nvPicPr>
          <p:cNvPr id="1133" name="Picture 8">
            <a:extLst>
              <a:ext uri="{FF2B5EF4-FFF2-40B4-BE49-F238E27FC236}">
                <a16:creationId xmlns:a16="http://schemas.microsoft.com/office/drawing/2014/main" id="{C8697B36-F207-62B4-8590-EE0414B30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5882" y="6324976"/>
            <a:ext cx="419135" cy="32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4" name="Picture 9">
            <a:extLst>
              <a:ext uri="{FF2B5EF4-FFF2-40B4-BE49-F238E27FC236}">
                <a16:creationId xmlns:a16="http://schemas.microsoft.com/office/drawing/2014/main" id="{6ABCEC3D-8C27-1644-AF16-1AE8EB0DD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0858" y="4645119"/>
            <a:ext cx="427737" cy="42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5" name="Picture 21">
            <a:extLst>
              <a:ext uri="{FF2B5EF4-FFF2-40B4-BE49-F238E27FC236}">
                <a16:creationId xmlns:a16="http://schemas.microsoft.com/office/drawing/2014/main" id="{BEB9B384-C05E-027F-39EA-BFFCB64793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4" b="74502"/>
          <a:stretch/>
        </p:blipFill>
        <p:spPr bwMode="auto">
          <a:xfrm>
            <a:off x="5661303" y="5332954"/>
            <a:ext cx="4105220" cy="59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6" name="TextBox 1135">
            <a:extLst>
              <a:ext uri="{FF2B5EF4-FFF2-40B4-BE49-F238E27FC236}">
                <a16:creationId xmlns:a16="http://schemas.microsoft.com/office/drawing/2014/main" id="{42BA562C-0B81-8251-8836-C77E5BAC4A62}"/>
              </a:ext>
            </a:extLst>
          </p:cNvPr>
          <p:cNvSpPr txBox="1"/>
          <p:nvPr/>
        </p:nvSpPr>
        <p:spPr>
          <a:xfrm>
            <a:off x="5672820" y="4979003"/>
            <a:ext cx="3204456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Posit’s Professional ODBC Drivers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137" name="Group 1136">
            <a:extLst>
              <a:ext uri="{FF2B5EF4-FFF2-40B4-BE49-F238E27FC236}">
                <a16:creationId xmlns:a16="http://schemas.microsoft.com/office/drawing/2014/main" id="{E8CB160F-5AFC-125F-4F89-DCAD58D2A802}"/>
              </a:ext>
            </a:extLst>
          </p:cNvPr>
          <p:cNvGrpSpPr/>
          <p:nvPr/>
        </p:nvGrpSpPr>
        <p:grpSpPr>
          <a:xfrm>
            <a:off x="5689585" y="8096894"/>
            <a:ext cx="320907" cy="382075"/>
            <a:chOff x="916195" y="1803353"/>
            <a:chExt cx="370151" cy="440706"/>
          </a:xfrm>
        </p:grpSpPr>
        <p:sp>
          <p:nvSpPr>
            <p:cNvPr id="1138" name="Oval 1137">
              <a:extLst>
                <a:ext uri="{FF2B5EF4-FFF2-40B4-BE49-F238E27FC236}">
                  <a16:creationId xmlns:a16="http://schemas.microsoft.com/office/drawing/2014/main" id="{09E97362-EA3F-62CE-0A9D-3D27ED435CA7}"/>
                </a:ext>
              </a:extLst>
            </p:cNvPr>
            <p:cNvSpPr/>
            <p:nvPr/>
          </p:nvSpPr>
          <p:spPr>
            <a:xfrm>
              <a:off x="916195" y="1853744"/>
              <a:ext cx="370151" cy="370151"/>
            </a:xfrm>
            <a:prstGeom prst="ellipse">
              <a:avLst/>
            </a:prstGeom>
            <a:solidFill>
              <a:srgbClr val="44709A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F5B62104-65B6-9CCC-C6ED-EF998A24AAA5}"/>
                </a:ext>
              </a:extLst>
            </p:cNvPr>
            <p:cNvSpPr txBox="1"/>
            <p:nvPr/>
          </p:nvSpPr>
          <p:spPr>
            <a:xfrm>
              <a:off x="974846" y="1803353"/>
              <a:ext cx="252848" cy="4407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solidFill>
                    <a:srgbClr val="F2F2F2"/>
                  </a:solidFill>
                </a:rPr>
                <a:t>4</a:t>
              </a:r>
              <a:endParaRPr kumimoji="0" lang="en-US" sz="1600" b="1" i="0" u="none" strike="noStrike" cap="none" spc="0" normalizeH="0" baseline="0" dirty="0">
                <a:ln>
                  <a:noFill/>
                </a:ln>
                <a:solidFill>
                  <a:srgbClr val="F2F2F2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142" name="TextBox 1141">
            <a:extLst>
              <a:ext uri="{FF2B5EF4-FFF2-40B4-BE49-F238E27FC236}">
                <a16:creationId xmlns:a16="http://schemas.microsoft.com/office/drawing/2014/main" id="{A38A5800-2C19-5F72-ACA5-F54342BAE5B5}"/>
              </a:ext>
            </a:extLst>
          </p:cNvPr>
          <p:cNvSpPr txBox="1"/>
          <p:nvPr/>
        </p:nvSpPr>
        <p:spPr>
          <a:xfrm>
            <a:off x="10133283" y="4808602"/>
            <a:ext cx="110127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i="0" u="sng" strike="noStrike" dirty="0">
                <a:solidFill>
                  <a:srgbClr val="40404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Examples</a:t>
            </a:r>
            <a:endParaRPr lang="en-US" dirty="0"/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4AA47B05-C13C-82E3-CED7-817DC8D570C0}"/>
              </a:ext>
            </a:extLst>
          </p:cNvPr>
          <p:cNvSpPr txBox="1"/>
          <p:nvPr/>
        </p:nvSpPr>
        <p:spPr>
          <a:xfrm>
            <a:off x="7042721" y="8573923"/>
            <a:ext cx="2930946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Support for multiple Python and R versions</a:t>
            </a:r>
          </a:p>
        </p:txBody>
      </p:sp>
      <p:pic>
        <p:nvPicPr>
          <p:cNvPr id="1145" name="Picture 8">
            <a:extLst>
              <a:ext uri="{FF2B5EF4-FFF2-40B4-BE49-F238E27FC236}">
                <a16:creationId xmlns:a16="http://schemas.microsoft.com/office/drawing/2014/main" id="{C4853229-BE0F-6D06-C5CF-DE2F9107E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945" y="8637999"/>
            <a:ext cx="272731" cy="21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7" name="Picture 8">
            <a:extLst>
              <a:ext uri="{FF2B5EF4-FFF2-40B4-BE49-F238E27FC236}">
                <a16:creationId xmlns:a16="http://schemas.microsoft.com/office/drawing/2014/main" id="{CC4CD93F-FEE3-991E-E57B-AE6070AB7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944" y="8637999"/>
            <a:ext cx="272731" cy="21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1" name="Picture 9">
            <a:extLst>
              <a:ext uri="{FF2B5EF4-FFF2-40B4-BE49-F238E27FC236}">
                <a16:creationId xmlns:a16="http://schemas.microsoft.com/office/drawing/2014/main" id="{82BC10A3-10C9-2A7D-EB89-852E9DE5D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522" y="8610790"/>
            <a:ext cx="266796" cy="265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2" name="Picture 9">
            <a:extLst>
              <a:ext uri="{FF2B5EF4-FFF2-40B4-BE49-F238E27FC236}">
                <a16:creationId xmlns:a16="http://schemas.microsoft.com/office/drawing/2014/main" id="{990AF98B-21A8-6FCD-1F28-B7FD2B353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804" y="8610790"/>
            <a:ext cx="266796" cy="265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3" name="TextBox 1152">
            <a:extLst>
              <a:ext uri="{FF2B5EF4-FFF2-40B4-BE49-F238E27FC236}">
                <a16:creationId xmlns:a16="http://schemas.microsoft.com/office/drawing/2014/main" id="{FC30895A-76A6-294E-88C5-04576CE4048E}"/>
              </a:ext>
            </a:extLst>
          </p:cNvPr>
          <p:cNvSpPr txBox="1"/>
          <p:nvPr/>
        </p:nvSpPr>
        <p:spPr>
          <a:xfrm>
            <a:off x="7042721" y="8954586"/>
            <a:ext cx="3090562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Leverage virtual environments and project-oriented workflows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162" name="Picture 23">
            <a:extLst>
              <a:ext uri="{FF2B5EF4-FFF2-40B4-BE49-F238E27FC236}">
                <a16:creationId xmlns:a16="http://schemas.microsoft.com/office/drawing/2014/main" id="{3542C504-A379-7E43-94CB-28306D87F3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" t="26606" r="53927" b="22569"/>
          <a:stretch/>
        </p:blipFill>
        <p:spPr bwMode="auto">
          <a:xfrm>
            <a:off x="5690788" y="9088124"/>
            <a:ext cx="319156" cy="32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3" name="Picture 25">
            <a:extLst>
              <a:ext uri="{FF2B5EF4-FFF2-40B4-BE49-F238E27FC236}">
                <a16:creationId xmlns:a16="http://schemas.microsoft.com/office/drawing/2014/main" id="{25EAA980-1385-D50A-956D-B2D93904A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717" y="9088124"/>
            <a:ext cx="276723" cy="32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4" name="TextBox 1163">
            <a:extLst>
              <a:ext uri="{FF2B5EF4-FFF2-40B4-BE49-F238E27FC236}">
                <a16:creationId xmlns:a16="http://schemas.microsoft.com/office/drawing/2014/main" id="{5386D264-D5CF-1BDF-7552-B181465FA0BB}"/>
              </a:ext>
            </a:extLst>
          </p:cNvPr>
          <p:cNvSpPr txBox="1"/>
          <p:nvPr/>
        </p:nvSpPr>
        <p:spPr>
          <a:xfrm>
            <a:off x="6474516" y="9088124"/>
            <a:ext cx="467676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VENV</a:t>
            </a: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B43376A1-98F3-D649-BA81-CFF7528F26B2}"/>
              </a:ext>
            </a:extLst>
          </p:cNvPr>
          <p:cNvSpPr txBox="1"/>
          <p:nvPr/>
        </p:nvSpPr>
        <p:spPr>
          <a:xfrm>
            <a:off x="5661522" y="9555906"/>
            <a:ext cx="4197545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RStudio and Positron: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Submit long-running Python/R jobs to Posit Workbench server to run in independent sessions</a:t>
            </a:r>
          </a:p>
        </p:txBody>
      </p:sp>
      <p:cxnSp>
        <p:nvCxnSpPr>
          <p:cNvPr id="1166" name="Straight Arrow Connector 1165">
            <a:extLst>
              <a:ext uri="{FF2B5EF4-FFF2-40B4-BE49-F238E27FC236}">
                <a16:creationId xmlns:a16="http://schemas.microsoft.com/office/drawing/2014/main" id="{C6FD00EF-B332-F4E8-82CD-CE86EEBA6CF4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9765808" y="9208658"/>
            <a:ext cx="1194044" cy="455843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ysDot"/>
            <a:miter lim="400000"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70" name="TextBox 1169">
            <a:extLst>
              <a:ext uri="{FF2B5EF4-FFF2-40B4-BE49-F238E27FC236}">
                <a16:creationId xmlns:a16="http://schemas.microsoft.com/office/drawing/2014/main" id="{07F36749-0D91-A894-F347-B380F8F4C46F}"/>
              </a:ext>
            </a:extLst>
          </p:cNvPr>
          <p:cNvSpPr txBox="1"/>
          <p:nvPr/>
        </p:nvSpPr>
        <p:spPr>
          <a:xfrm>
            <a:off x="7042721" y="213791"/>
            <a:ext cx="6786244" cy="8745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0" dirty="0"/>
              <a:t>A cheat sheet for open-source developers creating and sharing data insights using Posit Team 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180" name="Group 1179">
            <a:extLst>
              <a:ext uri="{FF2B5EF4-FFF2-40B4-BE49-F238E27FC236}">
                <a16:creationId xmlns:a16="http://schemas.microsoft.com/office/drawing/2014/main" id="{8701DF33-FBE3-488F-FFF0-0DA91BAAD534}"/>
              </a:ext>
            </a:extLst>
          </p:cNvPr>
          <p:cNvGrpSpPr/>
          <p:nvPr/>
        </p:nvGrpSpPr>
        <p:grpSpPr>
          <a:xfrm>
            <a:off x="219403" y="3860372"/>
            <a:ext cx="5321332" cy="3320309"/>
            <a:chOff x="153600" y="4250112"/>
            <a:chExt cx="5321332" cy="3320309"/>
          </a:xfrm>
        </p:grpSpPr>
        <p:sp>
          <p:nvSpPr>
            <p:cNvPr id="1173" name="Rounded Rectangle 1172">
              <a:extLst>
                <a:ext uri="{FF2B5EF4-FFF2-40B4-BE49-F238E27FC236}">
                  <a16:creationId xmlns:a16="http://schemas.microsoft.com/office/drawing/2014/main" id="{E6EB9920-7300-D77E-8E6E-6BAB0E43FA78}"/>
                </a:ext>
              </a:extLst>
            </p:cNvPr>
            <p:cNvSpPr/>
            <p:nvPr/>
          </p:nvSpPr>
          <p:spPr>
            <a:xfrm>
              <a:off x="153600" y="4461461"/>
              <a:ext cx="5321332" cy="3108960"/>
            </a:xfrm>
            <a:prstGeom prst="roundRect">
              <a:avLst>
                <a:gd name="adj" fmla="val 3116"/>
              </a:avLst>
            </a:prstGeom>
            <a:noFill/>
            <a:ln w="12700" cap="flat">
              <a:solidFill>
                <a:srgbClr val="44709A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74" name="Rectangle 1173">
              <a:extLst>
                <a:ext uri="{FF2B5EF4-FFF2-40B4-BE49-F238E27FC236}">
                  <a16:creationId xmlns:a16="http://schemas.microsoft.com/office/drawing/2014/main" id="{D9471454-B4AD-1F6B-F821-65646AAE1682}"/>
                </a:ext>
              </a:extLst>
            </p:cNvPr>
            <p:cNvSpPr/>
            <p:nvPr/>
          </p:nvSpPr>
          <p:spPr>
            <a:xfrm>
              <a:off x="198752" y="4298467"/>
              <a:ext cx="3812140" cy="325515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14C1136-AB15-3B0E-43FD-44682D311E06}"/>
                </a:ext>
              </a:extLst>
            </p:cNvPr>
            <p:cNvGrpSpPr/>
            <p:nvPr/>
          </p:nvGrpSpPr>
          <p:grpSpPr>
            <a:xfrm>
              <a:off x="227101" y="4275528"/>
              <a:ext cx="320907" cy="339179"/>
              <a:chOff x="916195" y="1832668"/>
              <a:chExt cx="370151" cy="391227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4DA7E57E-09F1-4060-B907-DAB81FC7982C}"/>
                  </a:ext>
                </a:extLst>
              </p:cNvPr>
              <p:cNvSpPr/>
              <p:nvPr/>
            </p:nvSpPr>
            <p:spPr>
              <a:xfrm>
                <a:off x="916195" y="1853744"/>
                <a:ext cx="370151" cy="370151"/>
              </a:xfrm>
              <a:prstGeom prst="ellipse">
                <a:avLst/>
              </a:prstGeom>
              <a:solidFill>
                <a:srgbClr val="44709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AFCC9E6-8498-1520-EEFD-FF9EF2D2E82E}"/>
                  </a:ext>
                </a:extLst>
              </p:cNvPr>
              <p:cNvSpPr txBox="1"/>
              <p:nvPr/>
            </p:nvSpPr>
            <p:spPr>
              <a:xfrm>
                <a:off x="991665" y="1832668"/>
                <a:ext cx="219210" cy="3820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4570" tIns="54570" rIns="54570" bIns="5457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1" i="0" u="none" strike="noStrike" cap="none" spc="0" normalizeH="0" baseline="0" dirty="0">
                    <a:ln>
                      <a:noFill/>
                    </a:ln>
                    <a:solidFill>
                      <a:srgbClr val="F2F2F2"/>
                    </a:solidFill>
                    <a:effectLst/>
                    <a:uFillTx/>
                    <a:latin typeface="Source Sans Pro"/>
                    <a:ea typeface="Source Sans Pro"/>
                    <a:cs typeface="Source Sans Pro"/>
                    <a:sym typeface="Source Sans Pro"/>
                  </a:rPr>
                  <a:t>1</a:t>
                </a: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16D09D1-D789-8CDB-4118-375D3EE043BA}"/>
                </a:ext>
              </a:extLst>
            </p:cNvPr>
            <p:cNvSpPr txBox="1"/>
            <p:nvPr/>
          </p:nvSpPr>
          <p:spPr>
            <a:xfrm>
              <a:off x="154910" y="4563156"/>
              <a:ext cx="3958160" cy="3205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defTabSz="584200" rtl="0" fontAlgn="auto" latinLnBrk="0" hangingPunct="0"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Open a new development session by clicking 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rgbClr val="F2F2F2"/>
                  </a:solidFill>
                  <a:effectLst/>
                  <a:highlight>
                    <a:srgbClr val="44709A"/>
                  </a:highlight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+ New Session</a:t>
              </a:r>
            </a:p>
          </p:txBody>
        </p: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581D7D24-6C41-94BA-9834-9D66D5120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38670" y="4845220"/>
              <a:ext cx="3138520" cy="2667230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5B32E76-E674-E292-DD97-44E4BDF0ABD8}"/>
                </a:ext>
              </a:extLst>
            </p:cNvPr>
            <p:cNvSpPr txBox="1"/>
            <p:nvPr/>
          </p:nvSpPr>
          <p:spPr>
            <a:xfrm>
              <a:off x="4097051" y="4995302"/>
              <a:ext cx="764005" cy="5051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Available IDEs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6A42EFEF-4528-C30E-23B0-50ED933DEA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5945" y="5180596"/>
              <a:ext cx="475822" cy="0"/>
            </a:xfrm>
            <a:prstGeom prst="straightConnector1">
              <a:avLst/>
            </a:prstGeom>
            <a:noFill/>
            <a:ln w="12700" cap="flat">
              <a:solidFill>
                <a:srgbClr val="000000"/>
              </a:solidFill>
              <a:prstDash val="sysDot"/>
              <a:miter lim="400000"/>
              <a:headEnd type="none" w="med" len="med"/>
              <a:tailEnd type="none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514E563-848D-2433-0348-F172E7794FF4}"/>
                </a:ext>
              </a:extLst>
            </p:cNvPr>
            <p:cNvSpPr txBox="1"/>
            <p:nvPr/>
          </p:nvSpPr>
          <p:spPr>
            <a:xfrm>
              <a:off x="4113070" y="6311510"/>
              <a:ext cx="1167063" cy="1192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Cluster Options</a:t>
              </a:r>
              <a:endParaRPr lang="en-US" b="0" dirty="0"/>
            </a:p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100" b="0" dirty="0"/>
                <a:t>May vary depending how Posit Workbench is configured in your environment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E3D7E957-F489-6514-AB7A-10E59DF37F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4755" y="6821229"/>
              <a:ext cx="478315" cy="55874"/>
            </a:xfrm>
            <a:prstGeom prst="straightConnector1">
              <a:avLst/>
            </a:prstGeom>
            <a:noFill/>
            <a:ln w="12700" cap="flat">
              <a:solidFill>
                <a:srgbClr val="000000"/>
              </a:solidFill>
              <a:prstDash val="sysDot"/>
              <a:miter lim="400000"/>
              <a:headEnd type="none" w="med" len="med"/>
              <a:tailEnd type="none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FD70830-933F-4B3D-BB99-B0F0C1974C3B}"/>
                </a:ext>
              </a:extLst>
            </p:cNvPr>
            <p:cNvSpPr txBox="1"/>
            <p:nvPr/>
          </p:nvSpPr>
          <p:spPr>
            <a:xfrm>
              <a:off x="548008" y="4250112"/>
              <a:ext cx="3593532" cy="382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b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solidFill>
                    <a:srgbClr val="44709A"/>
                  </a:solidFill>
                </a:rPr>
                <a:t>Open New Session in Posit Workbench</a:t>
              </a:r>
              <a:endParaRPr kumimoji="0" lang="en-US" sz="1600" b="1" i="0" u="none" strike="noStrike" cap="none" spc="0" normalizeH="0" baseline="0" dirty="0">
                <a:ln>
                  <a:noFill/>
                </a:ln>
                <a:solidFill>
                  <a:srgbClr val="44709A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175" name="Rounded Rectangle 1174">
            <a:extLst>
              <a:ext uri="{FF2B5EF4-FFF2-40B4-BE49-F238E27FC236}">
                <a16:creationId xmlns:a16="http://schemas.microsoft.com/office/drawing/2014/main" id="{4B20EBE0-656D-6C14-FDC2-081F5F4B7852}"/>
              </a:ext>
            </a:extLst>
          </p:cNvPr>
          <p:cNvSpPr/>
          <p:nvPr/>
        </p:nvSpPr>
        <p:spPr>
          <a:xfrm>
            <a:off x="145340" y="7457002"/>
            <a:ext cx="5321332" cy="2651760"/>
          </a:xfrm>
          <a:prstGeom prst="roundRect">
            <a:avLst>
              <a:gd name="adj" fmla="val 3116"/>
            </a:avLst>
          </a:prstGeom>
          <a:noFill/>
          <a:ln w="12700" cap="flat">
            <a:solidFill>
              <a:srgbClr val="44709A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9FC11446-7842-2517-C8E9-F4306737D684}"/>
              </a:ext>
            </a:extLst>
          </p:cNvPr>
          <p:cNvSpPr/>
          <p:nvPr/>
        </p:nvSpPr>
        <p:spPr>
          <a:xfrm>
            <a:off x="202425" y="7287727"/>
            <a:ext cx="3266295" cy="34468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6C9BACC-E4FB-F4CF-02E2-714F6707F338}"/>
              </a:ext>
            </a:extLst>
          </p:cNvPr>
          <p:cNvGrpSpPr/>
          <p:nvPr/>
        </p:nvGrpSpPr>
        <p:grpSpPr>
          <a:xfrm>
            <a:off x="227101" y="7246610"/>
            <a:ext cx="320907" cy="382075"/>
            <a:chOff x="916195" y="1803353"/>
            <a:chExt cx="370151" cy="440706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8519EBC9-0469-90C2-51C6-36228270E7EF}"/>
                </a:ext>
              </a:extLst>
            </p:cNvPr>
            <p:cNvSpPr/>
            <p:nvPr/>
          </p:nvSpPr>
          <p:spPr>
            <a:xfrm>
              <a:off x="916195" y="1853744"/>
              <a:ext cx="370151" cy="370151"/>
            </a:xfrm>
            <a:prstGeom prst="ellipse">
              <a:avLst/>
            </a:prstGeom>
            <a:solidFill>
              <a:srgbClr val="44709A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A3E84DA-D901-5CA2-EB42-395A0E6D9AA6}"/>
                </a:ext>
              </a:extLst>
            </p:cNvPr>
            <p:cNvSpPr txBox="1"/>
            <p:nvPr/>
          </p:nvSpPr>
          <p:spPr>
            <a:xfrm>
              <a:off x="974846" y="1803353"/>
              <a:ext cx="252849" cy="4407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1" i="0" u="none" strike="noStrike" cap="none" spc="0" normalizeH="0" baseline="0" dirty="0">
                  <a:ln>
                    <a:noFill/>
                  </a:ln>
                  <a:solidFill>
                    <a:srgbClr val="F2F2F2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2</a:t>
              </a:r>
            </a:p>
          </p:txBody>
        </p:sp>
      </p:grpSp>
      <p:pic>
        <p:nvPicPr>
          <p:cNvPr id="1032" name="Picture 8">
            <a:extLst>
              <a:ext uri="{FF2B5EF4-FFF2-40B4-BE49-F238E27FC236}">
                <a16:creationId xmlns:a16="http://schemas.microsoft.com/office/drawing/2014/main" id="{168AF03F-279F-3914-CB31-267AD8154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83" y="7995188"/>
            <a:ext cx="402747" cy="31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55A6B403-69C8-F24D-30CC-67F143428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42" y="8610306"/>
            <a:ext cx="402748" cy="40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FDC4DCFC-1F4E-6D84-2363-59BA2EA31D3E}"/>
              </a:ext>
            </a:extLst>
          </p:cNvPr>
          <p:cNvSpPr txBox="1"/>
          <p:nvPr/>
        </p:nvSpPr>
        <p:spPr>
          <a:xfrm>
            <a:off x="812801" y="7557492"/>
            <a:ext cx="1087119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Check Current Repositories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2F384346-4220-4FBE-D3C2-031BFF1DCBF4}"/>
              </a:ext>
            </a:extLst>
          </p:cNvPr>
          <p:cNvSpPr txBox="1"/>
          <p:nvPr/>
        </p:nvSpPr>
        <p:spPr>
          <a:xfrm>
            <a:off x="789139" y="8004318"/>
            <a:ext cx="1469552" cy="3051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0" dirty="0">
                <a:latin typeface="Source Code Pro" panose="020B0309030403020204" pitchFamily="34" charset="0"/>
                <a:ea typeface="Source Code Pro" panose="020B0309030403020204" pitchFamily="34" charset="0"/>
              </a:rPr>
              <a:t>options(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</a:rPr>
              <a:t>"</a:t>
            </a:r>
            <a:r>
              <a:rPr lang="en-US" sz="1100" b="0" dirty="0">
                <a:latin typeface="Source Code Pro" panose="020B0309030403020204" pitchFamily="34" charset="0"/>
                <a:ea typeface="Source Code Pro" panose="020B0309030403020204" pitchFamily="34" charset="0"/>
              </a:rPr>
              <a:t>repos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</a:rPr>
              <a:t>"</a:t>
            </a:r>
            <a:r>
              <a:rPr lang="en-US" sz="1100" b="0" dirty="0">
                <a:latin typeface="Source Code Pro" panose="020B0309030403020204" pitchFamily="34" charset="0"/>
                <a:ea typeface="Source Code Pro" panose="020B0309030403020204" pitchFamily="34" charset="0"/>
              </a:rPr>
              <a:t>)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Code Pro" panose="020B0309030403020204" pitchFamily="34" charset="0"/>
              <a:ea typeface="Source Code Pro" panose="020B0309030403020204" pitchFamily="34" charset="0"/>
              <a:sym typeface="Source Sans Pro"/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CFA705AC-F149-25D4-545A-C2806AE30C85}"/>
              </a:ext>
            </a:extLst>
          </p:cNvPr>
          <p:cNvSpPr txBox="1"/>
          <p:nvPr/>
        </p:nvSpPr>
        <p:spPr>
          <a:xfrm>
            <a:off x="789139" y="8635087"/>
            <a:ext cx="1384594" cy="3051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Code Pro" panose="020B0309030403020204" pitchFamily="34" charset="0"/>
                <a:ea typeface="Source Code Pro" panose="020B0309030403020204" pitchFamily="34" charset="0"/>
                <a:sym typeface="Source Sans Pro"/>
              </a:rPr>
              <a:t>pip config list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053E334A-D05C-C0CB-E985-C3560103F5D6}"/>
              </a:ext>
            </a:extLst>
          </p:cNvPr>
          <p:cNvSpPr txBox="1"/>
          <p:nvPr/>
        </p:nvSpPr>
        <p:spPr>
          <a:xfrm>
            <a:off x="2410594" y="7557492"/>
            <a:ext cx="2080126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Configure Repositories with Posit Package Manager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546B3547-101D-DF01-9D36-917399065A6D}"/>
              </a:ext>
            </a:extLst>
          </p:cNvPr>
          <p:cNvSpPr txBox="1"/>
          <p:nvPr/>
        </p:nvSpPr>
        <p:spPr>
          <a:xfrm>
            <a:off x="2282353" y="8010142"/>
            <a:ext cx="3161449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</a:rPr>
              <a:t>options(repos = c(CRAN = "https://your-package-manager-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</a:rPr>
              <a:t>url.com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</a:rPr>
              <a:t>"))</a:t>
            </a:r>
            <a:endParaRPr lang="en-US" sz="1100" b="0" dirty="0">
              <a:solidFill>
                <a:srgbClr val="404041"/>
              </a:solidFill>
              <a:effectLst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360294D6-A42F-8B2E-0964-A869361847A8}"/>
              </a:ext>
            </a:extLst>
          </p:cNvPr>
          <p:cNvSpPr txBox="1"/>
          <p:nvPr/>
        </p:nvSpPr>
        <p:spPr>
          <a:xfrm>
            <a:off x="2257353" y="8653733"/>
            <a:ext cx="3218733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</a:rPr>
              <a:t>pip config set 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</a:rPr>
              <a:t>global.index-url</a:t>
            </a:r>
            <a:r>
              <a:rPr lang="en-US" sz="1100" b="0" i="0" u="none" strike="noStrike" dirty="0">
                <a:solidFill>
                  <a:srgbClr val="404041"/>
                </a:solidFill>
                <a:effectLst/>
                <a:latin typeface="Source Code Pro" panose="020B0309030403020204" pitchFamily="34" charset="0"/>
              </a:rPr>
              <a:t> https://your-package-manager-</a:t>
            </a:r>
            <a:r>
              <a:rPr lang="en-US" sz="1100" b="0" i="0" u="none" strike="noStrike" dirty="0" err="1">
                <a:solidFill>
                  <a:srgbClr val="404041"/>
                </a:solidFill>
                <a:effectLst/>
                <a:latin typeface="Source Code Pro" panose="020B0309030403020204" pitchFamily="34" charset="0"/>
              </a:rPr>
              <a:t>url.com</a:t>
            </a:r>
            <a:endParaRPr lang="en-US" sz="1100" b="0" dirty="0">
              <a:solidFill>
                <a:srgbClr val="404041"/>
              </a:solidFill>
              <a:effectLst/>
            </a:endParaRPr>
          </a:p>
        </p:txBody>
      </p:sp>
      <p:pic>
        <p:nvPicPr>
          <p:cNvPr id="1045" name="Picture 1044">
            <a:extLst>
              <a:ext uri="{FF2B5EF4-FFF2-40B4-BE49-F238E27FC236}">
                <a16:creationId xmlns:a16="http://schemas.microsoft.com/office/drawing/2014/main" id="{17BDAFB8-005D-AA2A-AEFE-C32E9F3E058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37157"/>
          <a:stretch/>
        </p:blipFill>
        <p:spPr>
          <a:xfrm>
            <a:off x="214183" y="9388062"/>
            <a:ext cx="2708926" cy="320520"/>
          </a:xfrm>
          <a:prstGeom prst="rect">
            <a:avLst/>
          </a:prstGeom>
        </p:spPr>
      </p:pic>
      <p:sp>
        <p:nvSpPr>
          <p:cNvPr id="1046" name="TextBox 1045">
            <a:extLst>
              <a:ext uri="{FF2B5EF4-FFF2-40B4-BE49-F238E27FC236}">
                <a16:creationId xmlns:a16="http://schemas.microsoft.com/office/drawing/2014/main" id="{23B108CE-9E18-F0AA-2BCD-D39354792AD5}"/>
              </a:ext>
            </a:extLst>
          </p:cNvPr>
          <p:cNvSpPr txBox="1"/>
          <p:nvPr/>
        </p:nvSpPr>
        <p:spPr>
          <a:xfrm>
            <a:off x="2891659" y="9202257"/>
            <a:ext cx="2551823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0" dirty="0"/>
              <a:t>Obtain your repository URL by clicking 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0" dirty="0"/>
              <a:t>                 on Posit Package Manager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BEB91C10-7166-FCB3-B126-96328748AAB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89020" y="9442410"/>
            <a:ext cx="540743" cy="222091"/>
          </a:xfrm>
          <a:prstGeom prst="rect">
            <a:avLst/>
          </a:prstGeom>
        </p:spPr>
      </p:pic>
      <p:sp>
        <p:nvSpPr>
          <p:cNvPr id="1048" name="TextBox 1047">
            <a:extLst>
              <a:ext uri="{FF2B5EF4-FFF2-40B4-BE49-F238E27FC236}">
                <a16:creationId xmlns:a16="http://schemas.microsoft.com/office/drawing/2014/main" id="{BE9190C3-66FB-0A2B-62D7-3DD6E8AD9417}"/>
              </a:ext>
            </a:extLst>
          </p:cNvPr>
          <p:cNvSpPr txBox="1"/>
          <p:nvPr/>
        </p:nvSpPr>
        <p:spPr>
          <a:xfrm>
            <a:off x="204082" y="8961617"/>
            <a:ext cx="2206512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Example Posit Package Manager Repository URL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C5273A-B127-F363-DB5B-ACCAB3DAF3F2}"/>
              </a:ext>
            </a:extLst>
          </p:cNvPr>
          <p:cNvSpPr txBox="1"/>
          <p:nvPr/>
        </p:nvSpPr>
        <p:spPr>
          <a:xfrm>
            <a:off x="548008" y="7246611"/>
            <a:ext cx="2979581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b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44709A"/>
                </a:solidFill>
              </a:rPr>
              <a:t>Configure Package Repositories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44709A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1A7EE700-F99F-CB5C-7773-0B12078B3AB8}"/>
              </a:ext>
            </a:extLst>
          </p:cNvPr>
          <p:cNvSpPr txBox="1"/>
          <p:nvPr/>
        </p:nvSpPr>
        <p:spPr>
          <a:xfrm>
            <a:off x="6043761" y="1123163"/>
            <a:ext cx="1634662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b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44709A"/>
                </a:solidFill>
              </a:rPr>
              <a:t>Access Your Data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44709A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029D3042-31BC-3D7E-66AC-6671D7323E4D}"/>
              </a:ext>
            </a:extLst>
          </p:cNvPr>
          <p:cNvSpPr txBox="1"/>
          <p:nvPr/>
        </p:nvSpPr>
        <p:spPr>
          <a:xfrm>
            <a:off x="6010492" y="8096895"/>
            <a:ext cx="1427874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b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44709A"/>
                </a:solidFill>
              </a:rPr>
              <a:t>Run your Code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44709A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198" name="Graphic 1197">
            <a:extLst>
              <a:ext uri="{FF2B5EF4-FFF2-40B4-BE49-F238E27FC236}">
                <a16:creationId xmlns:a16="http://schemas.microsoft.com/office/drawing/2014/main" id="{27CE4B73-97B3-9731-1299-26587CCFC6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3600" y="10270796"/>
            <a:ext cx="1137770" cy="308697"/>
          </a:xfrm>
          <a:prstGeom prst="rect">
            <a:avLst/>
          </a:prstGeom>
        </p:spPr>
      </p:pic>
      <p:sp>
        <p:nvSpPr>
          <p:cNvPr id="1199" name="TextBox 1198">
            <a:extLst>
              <a:ext uri="{FF2B5EF4-FFF2-40B4-BE49-F238E27FC236}">
                <a16:creationId xmlns:a16="http://schemas.microsoft.com/office/drawing/2014/main" id="{0DD44388-A588-4985-17BF-958BC93C370B}"/>
              </a:ext>
            </a:extLst>
          </p:cNvPr>
          <p:cNvSpPr txBox="1"/>
          <p:nvPr/>
        </p:nvSpPr>
        <p:spPr>
          <a:xfrm>
            <a:off x="1386819" y="10265634"/>
            <a:ext cx="1205821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CC BY SA Posit Software, PBC · </a:t>
            </a:r>
            <a:r>
              <a:rPr kumimoji="0" lang="en-US" sz="12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info@posit.co</a:t>
            </a: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· Learn more at </a:t>
            </a:r>
            <a:r>
              <a:rPr kumimoji="0" lang="en-US" sz="12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posit.co</a:t>
            </a: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/products/enterprise/team · HTML </a:t>
            </a:r>
            <a:r>
              <a:rPr kumimoji="0" lang="en-US" sz="12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cheatsheets</a:t>
            </a: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at </a:t>
            </a:r>
            <a:r>
              <a:rPr kumimoji="0" lang="en-US" sz="12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pos.it</a:t>
            </a: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/</a:t>
            </a:r>
            <a:r>
              <a:rPr kumimoji="0" lang="en-US" sz="12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cheatsheets</a:t>
            </a: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· Updated 2026-08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6E977-7B25-D710-C2B8-E44EB1A74CF0}"/>
              </a:ext>
            </a:extLst>
          </p:cNvPr>
          <p:cNvSpPr txBox="1"/>
          <p:nvPr/>
        </p:nvSpPr>
        <p:spPr>
          <a:xfrm>
            <a:off x="5716565" y="7343778"/>
            <a:ext cx="4184992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Tip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: Never hard code credentials! Use environment variables or talk to your administrator about setting up a DSN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9975351-D410-5576-DCC1-FBB6E4F2C0D6}"/>
              </a:ext>
            </a:extLst>
          </p:cNvPr>
          <p:cNvCxnSpPr>
            <a:cxnSpLocks/>
            <a:endCxn id="1135" idx="3"/>
          </p:cNvCxnSpPr>
          <p:nvPr/>
        </p:nvCxnSpPr>
        <p:spPr>
          <a:xfrm flipH="1">
            <a:off x="9766523" y="5332954"/>
            <a:ext cx="806591" cy="297519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ysDot"/>
            <a:miter lim="400000"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1BBAA65-948B-E413-C726-67B6A796B527}"/>
              </a:ext>
            </a:extLst>
          </p:cNvPr>
          <p:cNvCxnSpPr>
            <a:cxnSpLocks/>
          </p:cNvCxnSpPr>
          <p:nvPr/>
        </p:nvCxnSpPr>
        <p:spPr>
          <a:xfrm flipH="1" flipV="1">
            <a:off x="9783670" y="6566499"/>
            <a:ext cx="789444" cy="367778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ysDot"/>
            <a:miter lim="400000"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C29C73-55BB-5B0A-B8DD-28CBC7108B67}"/>
              </a:ext>
            </a:extLst>
          </p:cNvPr>
          <p:cNvCxnSpPr>
            <a:cxnSpLocks/>
          </p:cNvCxnSpPr>
          <p:nvPr/>
        </p:nvCxnSpPr>
        <p:spPr>
          <a:xfrm flipH="1">
            <a:off x="9828334" y="7339846"/>
            <a:ext cx="753255" cy="153379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ysDot"/>
            <a:miter lim="400000"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4" name="Picture 21">
            <a:extLst>
              <a:ext uri="{FF2B5EF4-FFF2-40B4-BE49-F238E27FC236}">
                <a16:creationId xmlns:a16="http://schemas.microsoft.com/office/drawing/2014/main" id="{3CF33546-D030-A893-D312-4E1BF79652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271" b="38718"/>
          <a:stretch/>
        </p:blipFill>
        <p:spPr bwMode="auto">
          <a:xfrm>
            <a:off x="5661302" y="5980720"/>
            <a:ext cx="4105219" cy="58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1">
            <a:extLst>
              <a:ext uri="{FF2B5EF4-FFF2-40B4-BE49-F238E27FC236}">
                <a16:creationId xmlns:a16="http://schemas.microsoft.com/office/drawing/2014/main" id="{83070249-DF46-0446-E61F-E4FCFB42C3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782" b="2788"/>
          <a:stretch/>
        </p:blipFill>
        <p:spPr bwMode="auto">
          <a:xfrm>
            <a:off x="5661302" y="6619227"/>
            <a:ext cx="4105217" cy="54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93F4EFF-3D97-A7DC-B170-901E4D10BA52}"/>
              </a:ext>
            </a:extLst>
          </p:cNvPr>
          <p:cNvSpPr txBox="1"/>
          <p:nvPr/>
        </p:nvSpPr>
        <p:spPr>
          <a:xfrm>
            <a:off x="313448" y="9662392"/>
            <a:ext cx="5072362" cy="4744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Tip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: Talk to your administrator about configuring your repositories to ensure they persist across sessions</a:t>
            </a:r>
            <a:endParaRPr kumimoji="0" lang="en-US" sz="11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B05CADA9-DD14-9697-2330-D6492FAD01D1}"/>
              </a:ext>
            </a:extLst>
          </p:cNvPr>
          <p:cNvSpPr/>
          <p:nvPr/>
        </p:nvSpPr>
        <p:spPr>
          <a:xfrm>
            <a:off x="219403" y="1338146"/>
            <a:ext cx="5321332" cy="2468880"/>
          </a:xfrm>
          <a:prstGeom prst="roundRect">
            <a:avLst>
              <a:gd name="adj" fmla="val 3116"/>
            </a:avLst>
          </a:prstGeom>
          <a:noFill/>
          <a:ln w="12700" cap="flat">
            <a:solidFill>
              <a:srgbClr val="40404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41B1F64-AF38-9748-62C8-4FBD13DD5016}"/>
              </a:ext>
            </a:extLst>
          </p:cNvPr>
          <p:cNvSpPr txBox="1"/>
          <p:nvPr/>
        </p:nvSpPr>
        <p:spPr>
          <a:xfrm>
            <a:off x="245965" y="1432394"/>
            <a:ext cx="5098663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Posit Team </a:t>
            </a:r>
            <a:r>
              <a:rPr lang="en-US" b="0" dirty="0"/>
              <a:t>bundles Posit’s premier data science tools, including: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D7D3023-E63D-536B-1230-A563998A5610}"/>
              </a:ext>
            </a:extLst>
          </p:cNvPr>
          <p:cNvSpPr txBox="1"/>
          <p:nvPr/>
        </p:nvSpPr>
        <p:spPr>
          <a:xfrm>
            <a:off x="1103359" y="2120850"/>
            <a:ext cx="3731003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Development environment for creating insights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2FDAFF4-F4B3-4382-4155-80E451DDB251}"/>
              </a:ext>
            </a:extLst>
          </p:cNvPr>
          <p:cNvSpPr txBox="1"/>
          <p:nvPr/>
        </p:nvSpPr>
        <p:spPr>
          <a:xfrm>
            <a:off x="1109296" y="2789256"/>
            <a:ext cx="3988822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Hosting environment for accessing and sharing insights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347071F-35BF-A22A-18B1-267499D10E47}"/>
              </a:ext>
            </a:extLst>
          </p:cNvPr>
          <p:cNvSpPr txBox="1"/>
          <p:nvPr/>
        </p:nvSpPr>
        <p:spPr>
          <a:xfrm>
            <a:off x="1071087" y="3498362"/>
            <a:ext cx="3806995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R and Python package repository management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514EF5E-AECC-CB3C-CB13-1805607B5C49}"/>
              </a:ext>
            </a:extLst>
          </p:cNvPr>
          <p:cNvSpPr txBox="1"/>
          <p:nvPr/>
        </p:nvSpPr>
        <p:spPr>
          <a:xfrm>
            <a:off x="445514" y="1019862"/>
            <a:ext cx="1403830" cy="505186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40404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Overview</a:t>
            </a:r>
          </a:p>
        </p:txBody>
      </p:sp>
      <p:pic>
        <p:nvPicPr>
          <p:cNvPr id="49" name="Picture 48" descr="A black and white logo&#10;&#10;Description automatically generated">
            <a:extLst>
              <a:ext uri="{FF2B5EF4-FFF2-40B4-BE49-F238E27FC236}">
                <a16:creationId xmlns:a16="http://schemas.microsoft.com/office/drawing/2014/main" id="{BFDF10D0-47D2-BDA7-E909-C3CBD7D30C5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52" y="184124"/>
            <a:ext cx="6434661" cy="9677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814863-6270-D313-B6E4-198F173D13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59852" y="8374207"/>
            <a:ext cx="2154653" cy="1668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7051C9-B537-883A-23D5-0EDD0298476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939" y="2392376"/>
            <a:ext cx="2202686" cy="6147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6AB2B53-C5DD-8AB6-13FB-EFEAD44CF11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61" y="1699501"/>
            <a:ext cx="2709427" cy="62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1585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7" name="Picture 3196">
            <a:extLst>
              <a:ext uri="{FF2B5EF4-FFF2-40B4-BE49-F238E27FC236}">
                <a16:creationId xmlns:a16="http://schemas.microsoft.com/office/drawing/2014/main" id="{49E2AB41-080C-6415-55C5-A81295DD8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9982" y="3637960"/>
            <a:ext cx="1780781" cy="916286"/>
          </a:xfrm>
          <a:prstGeom prst="rect">
            <a:avLst/>
          </a:prstGeom>
        </p:spPr>
      </p:pic>
      <p:pic>
        <p:nvPicPr>
          <p:cNvPr id="3194" name="Picture 3193">
            <a:extLst>
              <a:ext uri="{FF2B5EF4-FFF2-40B4-BE49-F238E27FC236}">
                <a16:creationId xmlns:a16="http://schemas.microsoft.com/office/drawing/2014/main" id="{61212E88-4FEB-3FB3-43E6-94BF13AA1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7849" y="1593547"/>
            <a:ext cx="1664967" cy="1871703"/>
          </a:xfrm>
          <a:prstGeom prst="rect">
            <a:avLst/>
          </a:prstGeom>
        </p:spPr>
      </p:pic>
      <p:sp>
        <p:nvSpPr>
          <p:cNvPr id="3122" name="Rounded Rectangle 3121">
            <a:extLst>
              <a:ext uri="{FF2B5EF4-FFF2-40B4-BE49-F238E27FC236}">
                <a16:creationId xmlns:a16="http://schemas.microsoft.com/office/drawing/2014/main" id="{E25F32F0-3340-2962-23DA-71F7719FE025}"/>
              </a:ext>
            </a:extLst>
          </p:cNvPr>
          <p:cNvSpPr>
            <a:spLocks/>
          </p:cNvSpPr>
          <p:nvPr/>
        </p:nvSpPr>
        <p:spPr>
          <a:xfrm>
            <a:off x="4536982" y="1069073"/>
            <a:ext cx="2375611" cy="3485173"/>
          </a:xfrm>
          <a:prstGeom prst="roundRect">
            <a:avLst>
              <a:gd name="adj" fmla="val 3961"/>
            </a:avLst>
          </a:prstGeom>
          <a:noFill/>
          <a:ln w="12700" cap="flat">
            <a:solidFill>
              <a:srgbClr val="40404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23" name="Rectangle 3122">
            <a:extLst>
              <a:ext uri="{FF2B5EF4-FFF2-40B4-BE49-F238E27FC236}">
                <a16:creationId xmlns:a16="http://schemas.microsoft.com/office/drawing/2014/main" id="{8AF99BDC-47F9-BF25-281D-6E12293E683A}"/>
              </a:ext>
            </a:extLst>
          </p:cNvPr>
          <p:cNvSpPr/>
          <p:nvPr/>
        </p:nvSpPr>
        <p:spPr>
          <a:xfrm>
            <a:off x="4754722" y="856247"/>
            <a:ext cx="797983" cy="47443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091" name="Rounded Rectangle 3090">
            <a:extLst>
              <a:ext uri="{FF2B5EF4-FFF2-40B4-BE49-F238E27FC236}">
                <a16:creationId xmlns:a16="http://schemas.microsoft.com/office/drawing/2014/main" id="{7585A2B5-83AD-5A47-E07E-21AB9FD39100}"/>
              </a:ext>
            </a:extLst>
          </p:cNvPr>
          <p:cNvSpPr/>
          <p:nvPr/>
        </p:nvSpPr>
        <p:spPr>
          <a:xfrm>
            <a:off x="153600" y="441434"/>
            <a:ext cx="4124110" cy="8286167"/>
          </a:xfrm>
          <a:prstGeom prst="roundRect">
            <a:avLst>
              <a:gd name="adj" fmla="val 3116"/>
            </a:avLst>
          </a:prstGeom>
          <a:noFill/>
          <a:ln w="12700" cap="flat">
            <a:solidFill>
              <a:srgbClr val="44709A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093" name="Rectangle 3092">
            <a:extLst>
              <a:ext uri="{FF2B5EF4-FFF2-40B4-BE49-F238E27FC236}">
                <a16:creationId xmlns:a16="http://schemas.microsoft.com/office/drawing/2014/main" id="{58C39ADD-BBE1-87B6-2BB2-7D1C75A7876D}"/>
              </a:ext>
            </a:extLst>
          </p:cNvPr>
          <p:cNvSpPr/>
          <p:nvPr/>
        </p:nvSpPr>
        <p:spPr>
          <a:xfrm>
            <a:off x="248645" y="238555"/>
            <a:ext cx="3849624" cy="38207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E6AFBE3-9233-191A-ACC9-CD7221DF04F5}"/>
              </a:ext>
            </a:extLst>
          </p:cNvPr>
          <p:cNvGrpSpPr/>
          <p:nvPr/>
        </p:nvGrpSpPr>
        <p:grpSpPr>
          <a:xfrm>
            <a:off x="271367" y="238555"/>
            <a:ext cx="320907" cy="382075"/>
            <a:chOff x="916195" y="1803353"/>
            <a:chExt cx="370151" cy="44070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C1D2AB7-DB2A-777D-EE49-1F559EC96421}"/>
                </a:ext>
              </a:extLst>
            </p:cNvPr>
            <p:cNvSpPr/>
            <p:nvPr/>
          </p:nvSpPr>
          <p:spPr>
            <a:xfrm>
              <a:off x="916195" y="1853744"/>
              <a:ext cx="370151" cy="370151"/>
            </a:xfrm>
            <a:prstGeom prst="ellipse">
              <a:avLst/>
            </a:prstGeom>
            <a:solidFill>
              <a:srgbClr val="44709A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AE9CDDA-59D1-EB39-7E2F-DCE2DAC0623B}"/>
                </a:ext>
              </a:extLst>
            </p:cNvPr>
            <p:cNvSpPr txBox="1"/>
            <p:nvPr/>
          </p:nvSpPr>
          <p:spPr>
            <a:xfrm>
              <a:off x="974846" y="1803353"/>
              <a:ext cx="252848" cy="4407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1" i="0" u="none" strike="noStrike" cap="none" spc="0" normalizeH="0" baseline="0" dirty="0">
                  <a:ln>
                    <a:noFill/>
                  </a:ln>
                  <a:solidFill>
                    <a:srgbClr val="F2F2F2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5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5C2811-AFD8-D764-4D80-457D40FA4705}"/>
              </a:ext>
            </a:extLst>
          </p:cNvPr>
          <p:cNvSpPr txBox="1"/>
          <p:nvPr/>
        </p:nvSpPr>
        <p:spPr>
          <a:xfrm>
            <a:off x="197797" y="592464"/>
            <a:ext cx="4273322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Supported Content Types on Posit Connect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27BA45F-8F22-C16F-792F-7393F0C27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98" y="1320556"/>
            <a:ext cx="440171" cy="50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>
            <a:extLst>
              <a:ext uri="{FF2B5EF4-FFF2-40B4-BE49-F238E27FC236}">
                <a16:creationId xmlns:a16="http://schemas.microsoft.com/office/drawing/2014/main" id="{0B9BBF94-943C-F7F3-9309-F47E40DD5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360" y="3009093"/>
            <a:ext cx="535914" cy="62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392DBA8D-F241-C72B-E811-332884F2E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98" y="1818862"/>
            <a:ext cx="443468" cy="514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>
            <a:extLst>
              <a:ext uri="{FF2B5EF4-FFF2-40B4-BE49-F238E27FC236}">
                <a16:creationId xmlns:a16="http://schemas.microsoft.com/office/drawing/2014/main" id="{B0745CFE-6074-5EBB-4FD4-2AFA79EEE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971" y="2783768"/>
            <a:ext cx="1123510" cy="40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3" name="Picture 11">
            <a:extLst>
              <a:ext uri="{FF2B5EF4-FFF2-40B4-BE49-F238E27FC236}">
                <a16:creationId xmlns:a16="http://schemas.microsoft.com/office/drawing/2014/main" id="{B5EB01F2-07C6-9FEE-B249-49AD3A8B7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67" y="2883682"/>
            <a:ext cx="429370" cy="49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EA1C3289-CD6F-73B6-9147-F89F1BE16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285" y="3115666"/>
            <a:ext cx="837681" cy="43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5" name="Picture 13">
            <a:extLst>
              <a:ext uri="{FF2B5EF4-FFF2-40B4-BE49-F238E27FC236}">
                <a16:creationId xmlns:a16="http://schemas.microsoft.com/office/drawing/2014/main" id="{0D42BF47-46C7-3FD8-4E23-2B5E1C11F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016" y="1343289"/>
            <a:ext cx="1216586" cy="20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F587653A-60D5-8187-CB4B-8FC2BE98C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848" y="1951125"/>
            <a:ext cx="665260" cy="189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7" name="Picture 15">
            <a:extLst>
              <a:ext uri="{FF2B5EF4-FFF2-40B4-BE49-F238E27FC236}">
                <a16:creationId xmlns:a16="http://schemas.microsoft.com/office/drawing/2014/main" id="{2CCEAE55-7310-9654-31B1-BE969058E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058" y="1630371"/>
            <a:ext cx="944503" cy="361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A56F62C5-78CF-6032-3132-8FFD041E9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47" y="1943998"/>
            <a:ext cx="440086" cy="183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F91A4DB-5A59-C9F3-D490-E1D6387BE740}"/>
              </a:ext>
            </a:extLst>
          </p:cNvPr>
          <p:cNvSpPr>
            <a:spLocks/>
          </p:cNvSpPr>
          <p:nvPr/>
        </p:nvSpPr>
        <p:spPr>
          <a:xfrm>
            <a:off x="250347" y="1150445"/>
            <a:ext cx="1520936" cy="1279488"/>
          </a:xfrm>
          <a:prstGeom prst="roundRect">
            <a:avLst/>
          </a:prstGeom>
          <a:noFill/>
          <a:ln w="12700" cap="flat">
            <a:solidFill>
              <a:srgbClr val="40404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D77D93-F31A-54BD-65B8-5CEC5A979B07}"/>
              </a:ext>
            </a:extLst>
          </p:cNvPr>
          <p:cNvSpPr/>
          <p:nvPr/>
        </p:nvSpPr>
        <p:spPr>
          <a:xfrm>
            <a:off x="558555" y="990185"/>
            <a:ext cx="912162" cy="320520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5F9501-3577-F46E-BDC5-323D9520CBCC}"/>
              </a:ext>
            </a:extLst>
          </p:cNvPr>
          <p:cNvSpPr txBox="1"/>
          <p:nvPr/>
        </p:nvSpPr>
        <p:spPr>
          <a:xfrm>
            <a:off x="503473" y="949166"/>
            <a:ext cx="1015660" cy="3512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Documents</a:t>
            </a:r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4D120F78-292A-C4AB-4046-C18E3D18C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56" y="1310705"/>
            <a:ext cx="440086" cy="50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3C3AB09-422A-0179-9A3C-C5788DD58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3600" y="10270796"/>
            <a:ext cx="1137770" cy="3086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2AD1D3-73E2-65D1-0480-E4CC9370ECF6}"/>
              </a:ext>
            </a:extLst>
          </p:cNvPr>
          <p:cNvSpPr txBox="1"/>
          <p:nvPr/>
        </p:nvSpPr>
        <p:spPr>
          <a:xfrm>
            <a:off x="1386819" y="10265634"/>
            <a:ext cx="1205821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CC BY SA Posit Software, PBC · </a:t>
            </a:r>
            <a:r>
              <a:rPr kumimoji="0" lang="en-US" sz="12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info@posit.co</a:t>
            </a: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· Learn more at </a:t>
            </a:r>
            <a:r>
              <a:rPr kumimoji="0" lang="en-US" sz="12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posit.co</a:t>
            </a: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/products/enterprise/team · HTML </a:t>
            </a:r>
            <a:r>
              <a:rPr kumimoji="0" lang="en-US" sz="12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cheatsheets</a:t>
            </a: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at </a:t>
            </a:r>
            <a:r>
              <a:rPr kumimoji="0" lang="en-US" sz="12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pos.it</a:t>
            </a: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/</a:t>
            </a:r>
            <a:r>
              <a:rPr kumimoji="0" lang="en-US" sz="12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cheatsheets</a:t>
            </a: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· Updated 2026-08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A221C65-C9F4-FB90-878A-D57C1CBD6A84}"/>
              </a:ext>
            </a:extLst>
          </p:cNvPr>
          <p:cNvSpPr>
            <a:spLocks/>
          </p:cNvSpPr>
          <p:nvPr/>
        </p:nvSpPr>
        <p:spPr>
          <a:xfrm>
            <a:off x="1920275" y="1180691"/>
            <a:ext cx="2202252" cy="1249241"/>
          </a:xfrm>
          <a:prstGeom prst="roundRect">
            <a:avLst/>
          </a:prstGeom>
          <a:noFill/>
          <a:ln w="12700" cap="flat">
            <a:solidFill>
              <a:srgbClr val="40404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1B93EB-95ED-A124-7FBA-585300713BAF}"/>
              </a:ext>
            </a:extLst>
          </p:cNvPr>
          <p:cNvSpPr/>
          <p:nvPr/>
        </p:nvSpPr>
        <p:spPr>
          <a:xfrm>
            <a:off x="2516644" y="997342"/>
            <a:ext cx="1015659" cy="320520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81801-CD94-058D-3141-ED263F88531D}"/>
              </a:ext>
            </a:extLst>
          </p:cNvPr>
          <p:cNvSpPr txBox="1"/>
          <p:nvPr/>
        </p:nvSpPr>
        <p:spPr>
          <a:xfrm>
            <a:off x="2414793" y="981954"/>
            <a:ext cx="1219361" cy="3512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Applications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C741AE3A-59C0-9C01-B10E-232763BEE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790" y="1322198"/>
            <a:ext cx="436753" cy="50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F40CE5D-5607-B96A-9656-09687DFFC990}"/>
              </a:ext>
            </a:extLst>
          </p:cNvPr>
          <p:cNvSpPr>
            <a:spLocks/>
          </p:cNvSpPr>
          <p:nvPr/>
        </p:nvSpPr>
        <p:spPr>
          <a:xfrm>
            <a:off x="254581" y="2678685"/>
            <a:ext cx="2908814" cy="1249241"/>
          </a:xfrm>
          <a:prstGeom prst="roundRect">
            <a:avLst/>
          </a:prstGeom>
          <a:noFill/>
          <a:ln w="12700" cap="flat">
            <a:solidFill>
              <a:srgbClr val="40404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1AD8D7-E651-237E-950A-AE82D1C71135}"/>
              </a:ext>
            </a:extLst>
          </p:cNvPr>
          <p:cNvSpPr/>
          <p:nvPr/>
        </p:nvSpPr>
        <p:spPr>
          <a:xfrm>
            <a:off x="789250" y="2497915"/>
            <a:ext cx="474509" cy="320520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55B2D1-A0DA-A127-4315-140F4FA2DEC5}"/>
              </a:ext>
            </a:extLst>
          </p:cNvPr>
          <p:cNvSpPr txBox="1"/>
          <p:nvPr/>
        </p:nvSpPr>
        <p:spPr>
          <a:xfrm>
            <a:off x="761709" y="2482527"/>
            <a:ext cx="529591" cy="3512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APIs</a:t>
            </a:r>
          </a:p>
        </p:txBody>
      </p:sp>
      <p:pic>
        <p:nvPicPr>
          <p:cNvPr id="3092" name="Picture 20">
            <a:extLst>
              <a:ext uri="{FF2B5EF4-FFF2-40B4-BE49-F238E27FC236}">
                <a16:creationId xmlns:a16="http://schemas.microsoft.com/office/drawing/2014/main" id="{3FC1D4DB-0D17-26F8-5420-D70D6E7FB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974" y="2886059"/>
            <a:ext cx="425317" cy="49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>
            <a:extLst>
              <a:ext uri="{FF2B5EF4-FFF2-40B4-BE49-F238E27FC236}">
                <a16:creationId xmlns:a16="http://schemas.microsoft.com/office/drawing/2014/main" id="{038F953D-4881-E53D-DE5D-2472EB565D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31" t="17058" r="39413" b="45829"/>
          <a:stretch/>
        </p:blipFill>
        <p:spPr bwMode="auto">
          <a:xfrm>
            <a:off x="1555679" y="2895902"/>
            <a:ext cx="425357" cy="47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0CE56B1-3E1C-B580-87D3-472773D2A814}"/>
              </a:ext>
            </a:extLst>
          </p:cNvPr>
          <p:cNvSpPr>
            <a:spLocks/>
          </p:cNvSpPr>
          <p:nvPr/>
        </p:nvSpPr>
        <p:spPr>
          <a:xfrm>
            <a:off x="3249642" y="2688585"/>
            <a:ext cx="872885" cy="1249241"/>
          </a:xfrm>
          <a:prstGeom prst="roundRect">
            <a:avLst/>
          </a:prstGeom>
          <a:noFill/>
          <a:ln w="12700" cap="flat">
            <a:solidFill>
              <a:srgbClr val="40404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B21F96-FA6C-F406-66BB-C880302D1BE0}"/>
              </a:ext>
            </a:extLst>
          </p:cNvPr>
          <p:cNvSpPr/>
          <p:nvPr/>
        </p:nvSpPr>
        <p:spPr>
          <a:xfrm>
            <a:off x="3456136" y="2507815"/>
            <a:ext cx="462880" cy="320520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56DCF8-56CD-5B53-8A81-5DAE7B186F80}"/>
              </a:ext>
            </a:extLst>
          </p:cNvPr>
          <p:cNvSpPr txBox="1"/>
          <p:nvPr/>
        </p:nvSpPr>
        <p:spPr>
          <a:xfrm>
            <a:off x="3389646" y="2492427"/>
            <a:ext cx="595861" cy="3512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Pins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6CFCA3-267A-2CB0-AEEF-D2BF707736A3}"/>
              </a:ext>
            </a:extLst>
          </p:cNvPr>
          <p:cNvSpPr txBox="1"/>
          <p:nvPr/>
        </p:nvSpPr>
        <p:spPr>
          <a:xfrm>
            <a:off x="197797" y="4836238"/>
            <a:ext cx="4273322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Methods for Publishing to Posit Connect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F8329CC-6357-71A6-658D-1EC561BDD86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1498" y="6202429"/>
            <a:ext cx="826683" cy="768815"/>
          </a:xfrm>
          <a:prstGeom prst="rect">
            <a:avLst/>
          </a:prstGeom>
        </p:spPr>
      </p:pic>
      <p:pic>
        <p:nvPicPr>
          <p:cNvPr id="3106" name="Picture 34">
            <a:extLst>
              <a:ext uri="{FF2B5EF4-FFF2-40B4-BE49-F238E27FC236}">
                <a16:creationId xmlns:a16="http://schemas.microsoft.com/office/drawing/2014/main" id="{E20FAE1A-492B-7013-E3BF-BABB63F43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672" y="6634378"/>
            <a:ext cx="263394" cy="26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3DD3647A-182D-777D-DFAC-EE38F75337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21342" t="29298" r="22481" b="23525"/>
          <a:stretch/>
        </p:blipFill>
        <p:spPr>
          <a:xfrm>
            <a:off x="1485143" y="6630824"/>
            <a:ext cx="322107" cy="27050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238B7EC1-DF4B-C7C1-8B2F-1641D37D7420}"/>
              </a:ext>
            </a:extLst>
          </p:cNvPr>
          <p:cNvSpPr txBox="1"/>
          <p:nvPr/>
        </p:nvSpPr>
        <p:spPr>
          <a:xfrm>
            <a:off x="1124708" y="5389815"/>
            <a:ext cx="2973561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Publish content directly from R using the </a:t>
            </a:r>
            <a:r>
              <a:rPr kumimoji="0" lang="en-US" sz="1200" b="0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rsconnect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R package</a:t>
            </a:r>
          </a:p>
        </p:txBody>
      </p:sp>
      <p:pic>
        <p:nvPicPr>
          <p:cNvPr id="3108" name="Picture 36">
            <a:extLst>
              <a:ext uri="{FF2B5EF4-FFF2-40B4-BE49-F238E27FC236}">
                <a16:creationId xmlns:a16="http://schemas.microsoft.com/office/drawing/2014/main" id="{39ABCFB1-5406-F894-549D-58F5025B4D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479"/>
          <a:stretch/>
        </p:blipFill>
        <p:spPr bwMode="auto">
          <a:xfrm>
            <a:off x="1130316" y="7461490"/>
            <a:ext cx="322107" cy="318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40">
            <a:extLst>
              <a:ext uri="{FF2B5EF4-FFF2-40B4-BE49-F238E27FC236}">
                <a16:creationId xmlns:a16="http://schemas.microsoft.com/office/drawing/2014/main" id="{A6F97BA7-CD84-52AE-C8E6-AC3009A2D9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2" t="15655" r="13360" b="16867"/>
          <a:stretch/>
        </p:blipFill>
        <p:spPr bwMode="auto">
          <a:xfrm>
            <a:off x="322516" y="7053831"/>
            <a:ext cx="767307" cy="60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6" name="Picture 44">
            <a:extLst>
              <a:ext uri="{FF2B5EF4-FFF2-40B4-BE49-F238E27FC236}">
                <a16:creationId xmlns:a16="http://schemas.microsoft.com/office/drawing/2014/main" id="{803100FB-C398-C9F6-C1CC-B373631930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9" t="28003" r="55640" b="27760"/>
          <a:stretch/>
        </p:blipFill>
        <p:spPr bwMode="auto">
          <a:xfrm>
            <a:off x="385303" y="7859308"/>
            <a:ext cx="722878" cy="7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0F7D447A-13A6-67F0-18B2-A73F8A7C63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69573" y="5273513"/>
            <a:ext cx="738608" cy="853112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AB176BB5-C1C8-DEC7-9522-7CC5C31CAD0A}"/>
              </a:ext>
            </a:extLst>
          </p:cNvPr>
          <p:cNvSpPr txBox="1"/>
          <p:nvPr/>
        </p:nvSpPr>
        <p:spPr>
          <a:xfrm>
            <a:off x="1124708" y="6142566"/>
            <a:ext cx="2856508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Publish content using the CLI within the </a:t>
            </a:r>
            <a:r>
              <a:rPr kumimoji="0" lang="en-US" sz="1200" b="0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rsconnect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-python package</a:t>
            </a:r>
          </a:p>
        </p:txBody>
      </p:sp>
      <p:sp>
        <p:nvSpPr>
          <p:cNvPr id="3072" name="TextBox 3071">
            <a:extLst>
              <a:ext uri="{FF2B5EF4-FFF2-40B4-BE49-F238E27FC236}">
                <a16:creationId xmlns:a16="http://schemas.microsoft.com/office/drawing/2014/main" id="{1FAACD1E-5ACB-F7FB-5FDB-C1B99E00DFC0}"/>
              </a:ext>
            </a:extLst>
          </p:cNvPr>
          <p:cNvSpPr txBox="1"/>
          <p:nvPr/>
        </p:nvSpPr>
        <p:spPr>
          <a:xfrm>
            <a:off x="1124708" y="6992459"/>
            <a:ext cx="2973561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Publish content with the click of a button using push button deployment</a:t>
            </a:r>
          </a:p>
        </p:txBody>
      </p:sp>
      <p:sp>
        <p:nvSpPr>
          <p:cNvPr id="3073" name="TextBox 3072">
            <a:extLst>
              <a:ext uri="{FF2B5EF4-FFF2-40B4-BE49-F238E27FC236}">
                <a16:creationId xmlns:a16="http://schemas.microsoft.com/office/drawing/2014/main" id="{92F78F6E-E232-B0A4-DCAA-E875DB1901B8}"/>
              </a:ext>
            </a:extLst>
          </p:cNvPr>
          <p:cNvSpPr txBox="1"/>
          <p:nvPr/>
        </p:nvSpPr>
        <p:spPr>
          <a:xfrm>
            <a:off x="1124708" y="7943007"/>
            <a:ext cx="1425004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Publish directly from a git repository</a:t>
            </a:r>
          </a:p>
        </p:txBody>
      </p:sp>
      <p:sp>
        <p:nvSpPr>
          <p:cNvPr id="3089" name="Rounded Rectangle 3088">
            <a:extLst>
              <a:ext uri="{FF2B5EF4-FFF2-40B4-BE49-F238E27FC236}">
                <a16:creationId xmlns:a16="http://schemas.microsoft.com/office/drawing/2014/main" id="{17908101-2839-4785-AC92-602B61A76F37}"/>
              </a:ext>
            </a:extLst>
          </p:cNvPr>
          <p:cNvSpPr/>
          <p:nvPr/>
        </p:nvSpPr>
        <p:spPr>
          <a:xfrm>
            <a:off x="153600" y="8870724"/>
            <a:ext cx="13645527" cy="1256949"/>
          </a:xfrm>
          <a:prstGeom prst="roundRect">
            <a:avLst/>
          </a:prstGeom>
          <a:solidFill>
            <a:srgbClr val="44709A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EFA5F-9DBF-C196-BC70-DDAF0F639DFE}"/>
              </a:ext>
            </a:extLst>
          </p:cNvPr>
          <p:cNvSpPr txBox="1"/>
          <p:nvPr/>
        </p:nvSpPr>
        <p:spPr>
          <a:xfrm>
            <a:off x="592274" y="238556"/>
            <a:ext cx="3590326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b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44709A"/>
                </a:solidFill>
              </a:rPr>
              <a:t>Publish your Content to Posit Connect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44709A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095" name="Rounded Rectangle 3094">
            <a:extLst>
              <a:ext uri="{FF2B5EF4-FFF2-40B4-BE49-F238E27FC236}">
                <a16:creationId xmlns:a16="http://schemas.microsoft.com/office/drawing/2014/main" id="{EAC2A505-04C9-AFC1-1425-C4B24AEA0522}"/>
              </a:ext>
            </a:extLst>
          </p:cNvPr>
          <p:cNvSpPr/>
          <p:nvPr/>
        </p:nvSpPr>
        <p:spPr>
          <a:xfrm>
            <a:off x="4447427" y="441434"/>
            <a:ext cx="9351699" cy="8286167"/>
          </a:xfrm>
          <a:prstGeom prst="roundRect">
            <a:avLst>
              <a:gd name="adj" fmla="val 1616"/>
            </a:avLst>
          </a:prstGeom>
          <a:noFill/>
          <a:ln w="12700" cap="flat">
            <a:solidFill>
              <a:srgbClr val="44709A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097" name="Rectangle 3096">
            <a:extLst>
              <a:ext uri="{FF2B5EF4-FFF2-40B4-BE49-F238E27FC236}">
                <a16:creationId xmlns:a16="http://schemas.microsoft.com/office/drawing/2014/main" id="{4B2582F9-33E5-0997-55AF-E1D844870B41}"/>
              </a:ext>
            </a:extLst>
          </p:cNvPr>
          <p:cNvSpPr/>
          <p:nvPr/>
        </p:nvSpPr>
        <p:spPr>
          <a:xfrm>
            <a:off x="4625601" y="238555"/>
            <a:ext cx="4926213" cy="38207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3098" name="Group 3097">
            <a:extLst>
              <a:ext uri="{FF2B5EF4-FFF2-40B4-BE49-F238E27FC236}">
                <a16:creationId xmlns:a16="http://schemas.microsoft.com/office/drawing/2014/main" id="{5EEC3982-7F16-436F-CBD2-1368924289A5}"/>
              </a:ext>
            </a:extLst>
          </p:cNvPr>
          <p:cNvGrpSpPr/>
          <p:nvPr/>
        </p:nvGrpSpPr>
        <p:grpSpPr>
          <a:xfrm>
            <a:off x="4648324" y="238555"/>
            <a:ext cx="320907" cy="382075"/>
            <a:chOff x="916195" y="1803353"/>
            <a:chExt cx="370151" cy="440706"/>
          </a:xfrm>
        </p:grpSpPr>
        <p:sp>
          <p:nvSpPr>
            <p:cNvPr id="3099" name="Oval 3098">
              <a:extLst>
                <a:ext uri="{FF2B5EF4-FFF2-40B4-BE49-F238E27FC236}">
                  <a16:creationId xmlns:a16="http://schemas.microsoft.com/office/drawing/2014/main" id="{3422B79F-AB8C-56DC-149F-3C96ED2319FD}"/>
                </a:ext>
              </a:extLst>
            </p:cNvPr>
            <p:cNvSpPr/>
            <p:nvPr/>
          </p:nvSpPr>
          <p:spPr>
            <a:xfrm>
              <a:off x="916195" y="1853744"/>
              <a:ext cx="370151" cy="370151"/>
            </a:xfrm>
            <a:prstGeom prst="ellipse">
              <a:avLst/>
            </a:prstGeom>
            <a:solidFill>
              <a:srgbClr val="44709A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100" name="TextBox 3099">
              <a:extLst>
                <a:ext uri="{FF2B5EF4-FFF2-40B4-BE49-F238E27FC236}">
                  <a16:creationId xmlns:a16="http://schemas.microsoft.com/office/drawing/2014/main" id="{04239C14-967A-6F6B-DD2D-B84DC87E39F4}"/>
                </a:ext>
              </a:extLst>
            </p:cNvPr>
            <p:cNvSpPr txBox="1"/>
            <p:nvPr/>
          </p:nvSpPr>
          <p:spPr>
            <a:xfrm>
              <a:off x="974846" y="1803353"/>
              <a:ext cx="252848" cy="4407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1" i="0" u="none" strike="noStrike" cap="none" spc="0" normalizeH="0" baseline="0" dirty="0">
                  <a:ln>
                    <a:noFill/>
                  </a:ln>
                  <a:solidFill>
                    <a:srgbClr val="F2F2F2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6</a:t>
              </a:r>
            </a:p>
          </p:txBody>
        </p:sp>
      </p:grpSp>
      <p:sp>
        <p:nvSpPr>
          <p:cNvPr id="3101" name="TextBox 3100">
            <a:extLst>
              <a:ext uri="{FF2B5EF4-FFF2-40B4-BE49-F238E27FC236}">
                <a16:creationId xmlns:a16="http://schemas.microsoft.com/office/drawing/2014/main" id="{8F8900E6-B40C-E5A2-C8FA-AB1CFFBBF8C5}"/>
              </a:ext>
            </a:extLst>
          </p:cNvPr>
          <p:cNvSpPr txBox="1"/>
          <p:nvPr/>
        </p:nvSpPr>
        <p:spPr>
          <a:xfrm>
            <a:off x="4969231" y="252409"/>
            <a:ext cx="4582584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b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44709A"/>
                </a:solidFill>
              </a:rPr>
              <a:t>Share and Control your Content on Posit Connect 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44709A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05" name="TextBox 3104">
            <a:extLst>
              <a:ext uri="{FF2B5EF4-FFF2-40B4-BE49-F238E27FC236}">
                <a16:creationId xmlns:a16="http://schemas.microsoft.com/office/drawing/2014/main" id="{CF05BF00-FFF2-E446-1E57-DEFD41A64218}"/>
              </a:ext>
            </a:extLst>
          </p:cNvPr>
          <p:cNvSpPr txBox="1"/>
          <p:nvPr/>
        </p:nvSpPr>
        <p:spPr>
          <a:xfrm>
            <a:off x="4939715" y="575574"/>
            <a:ext cx="4111905" cy="2616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404041"/>
                </a:solidFill>
                <a:latin typeface="Open Sans Light" panose="020B0606030504020204" pitchFamily="34" charset="0"/>
              </a:rPr>
              <a:t>Content controls are accessed by clicking the        icon </a:t>
            </a:r>
            <a:endParaRPr lang="en-US" sz="1100" b="0" i="0" dirty="0">
              <a:solidFill>
                <a:srgbClr val="404041"/>
              </a:solidFill>
              <a:effectLst/>
              <a:latin typeface="Open Sans Light" panose="020B0606030504020204" pitchFamily="34" charset="0"/>
            </a:endParaRPr>
          </a:p>
        </p:txBody>
      </p:sp>
      <p:pic>
        <p:nvPicPr>
          <p:cNvPr id="3107" name="Picture 3106">
            <a:extLst>
              <a:ext uri="{FF2B5EF4-FFF2-40B4-BE49-F238E27FC236}">
                <a16:creationId xmlns:a16="http://schemas.microsoft.com/office/drawing/2014/main" id="{42EE1976-20CE-7E28-6D75-76A61BB621B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75613" y="583976"/>
            <a:ext cx="248728" cy="238364"/>
          </a:xfrm>
          <a:prstGeom prst="rect">
            <a:avLst/>
          </a:prstGeom>
        </p:spPr>
      </p:pic>
      <p:sp>
        <p:nvSpPr>
          <p:cNvPr id="3115" name="TextBox 3114">
            <a:extLst>
              <a:ext uri="{FF2B5EF4-FFF2-40B4-BE49-F238E27FC236}">
                <a16:creationId xmlns:a16="http://schemas.microsoft.com/office/drawing/2014/main" id="{5684A7C0-EE9F-042B-2471-E9C905CA8663}"/>
              </a:ext>
            </a:extLst>
          </p:cNvPr>
          <p:cNvSpPr txBox="1"/>
          <p:nvPr/>
        </p:nvSpPr>
        <p:spPr>
          <a:xfrm>
            <a:off x="4529814" y="1157171"/>
            <a:ext cx="2862200" cy="1041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100" b="0" i="0" dirty="0">
                <a:solidFill>
                  <a:srgbClr val="404041"/>
                </a:solidFill>
                <a:effectLst/>
                <a:latin typeface="Open Sans Light" panose="020B0606030504020204" pitchFamily="34" charset="0"/>
              </a:rPr>
              <a:t>Content Title &amp; Description</a:t>
            </a:r>
          </a:p>
          <a:p>
            <a:pPr marL="171450" indent="-171450">
              <a:buFontTx/>
              <a:buChar char="-"/>
            </a:pPr>
            <a:r>
              <a:rPr lang="en-US" sz="1100" b="0" dirty="0">
                <a:solidFill>
                  <a:srgbClr val="404041"/>
                </a:solidFill>
                <a:latin typeface="Open Sans Light" panose="020B0606030504020204" pitchFamily="34" charset="0"/>
              </a:rPr>
              <a:t>Content URL</a:t>
            </a:r>
            <a:endParaRPr lang="en-US" sz="1100" b="0" i="0" dirty="0">
              <a:solidFill>
                <a:srgbClr val="404041"/>
              </a:solidFill>
              <a:effectLst/>
              <a:latin typeface="Open Sans Light" panose="020B0606030504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100" b="0" dirty="0">
                <a:solidFill>
                  <a:srgbClr val="404041"/>
                </a:solidFill>
                <a:latin typeface="Open Sans Light" panose="020B0606030504020204" pitchFamily="34" charset="0"/>
              </a:rPr>
              <a:t>Thumbnail</a:t>
            </a:r>
          </a:p>
          <a:p>
            <a:pPr marL="171450" indent="-171450">
              <a:buFontTx/>
              <a:buChar char="-"/>
            </a:pPr>
            <a:r>
              <a:rPr lang="en-US" sz="1100" b="0" dirty="0">
                <a:solidFill>
                  <a:srgbClr val="404041"/>
                </a:solidFill>
                <a:latin typeface="Open Sans Light" panose="020B0606030504020204" pitchFamily="34" charset="0"/>
              </a:rPr>
              <a:t>Tags</a:t>
            </a:r>
          </a:p>
          <a:p>
            <a:pPr marL="171450" indent="-171450">
              <a:buFontTx/>
              <a:buChar char="-"/>
            </a:pPr>
            <a:r>
              <a:rPr lang="en-US" sz="1100" b="0" i="0" dirty="0">
                <a:solidFill>
                  <a:srgbClr val="404041"/>
                </a:solidFill>
                <a:effectLst/>
                <a:latin typeface="Open Sans Light" panose="020B0606030504020204" pitchFamily="34" charset="0"/>
              </a:rPr>
              <a:t>Lock/Delete Content</a:t>
            </a:r>
          </a:p>
        </p:txBody>
      </p:sp>
      <p:sp>
        <p:nvSpPr>
          <p:cNvPr id="3109" name="TextBox 3108">
            <a:extLst>
              <a:ext uri="{FF2B5EF4-FFF2-40B4-BE49-F238E27FC236}">
                <a16:creationId xmlns:a16="http://schemas.microsoft.com/office/drawing/2014/main" id="{B5F8B75A-9434-20DC-88DA-0F4E30818259}"/>
              </a:ext>
            </a:extLst>
          </p:cNvPr>
          <p:cNvSpPr txBox="1"/>
          <p:nvPr/>
        </p:nvSpPr>
        <p:spPr>
          <a:xfrm>
            <a:off x="4754721" y="866295"/>
            <a:ext cx="894270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General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28" name="Rounded Rectangle 3127">
            <a:extLst>
              <a:ext uri="{FF2B5EF4-FFF2-40B4-BE49-F238E27FC236}">
                <a16:creationId xmlns:a16="http://schemas.microsoft.com/office/drawing/2014/main" id="{3F788550-B5C4-096E-41CA-4569F39F012A}"/>
              </a:ext>
            </a:extLst>
          </p:cNvPr>
          <p:cNvSpPr>
            <a:spLocks/>
          </p:cNvSpPr>
          <p:nvPr/>
        </p:nvSpPr>
        <p:spPr>
          <a:xfrm>
            <a:off x="4551314" y="4706239"/>
            <a:ext cx="2361279" cy="2457761"/>
          </a:xfrm>
          <a:prstGeom prst="roundRect">
            <a:avLst>
              <a:gd name="adj" fmla="val 3961"/>
            </a:avLst>
          </a:prstGeom>
          <a:noFill/>
          <a:ln w="12700" cap="flat">
            <a:solidFill>
              <a:srgbClr val="40404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29" name="Rectangle 3128">
            <a:extLst>
              <a:ext uri="{FF2B5EF4-FFF2-40B4-BE49-F238E27FC236}">
                <a16:creationId xmlns:a16="http://schemas.microsoft.com/office/drawing/2014/main" id="{4C8AFC95-F443-D7F8-8689-95B7E0F3452A}"/>
              </a:ext>
            </a:extLst>
          </p:cNvPr>
          <p:cNvSpPr/>
          <p:nvPr/>
        </p:nvSpPr>
        <p:spPr>
          <a:xfrm>
            <a:off x="4769055" y="4633536"/>
            <a:ext cx="717346" cy="16669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31" name="TextBox 3130">
            <a:extLst>
              <a:ext uri="{FF2B5EF4-FFF2-40B4-BE49-F238E27FC236}">
                <a16:creationId xmlns:a16="http://schemas.microsoft.com/office/drawing/2014/main" id="{CCEB90E9-4909-6C2E-078C-50124DDAD5DB}"/>
              </a:ext>
            </a:extLst>
          </p:cNvPr>
          <p:cNvSpPr txBox="1"/>
          <p:nvPr/>
        </p:nvSpPr>
        <p:spPr>
          <a:xfrm>
            <a:off x="4760175" y="4519747"/>
            <a:ext cx="993593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Source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43" name="Rounded Rectangle 3142">
            <a:extLst>
              <a:ext uri="{FF2B5EF4-FFF2-40B4-BE49-F238E27FC236}">
                <a16:creationId xmlns:a16="http://schemas.microsoft.com/office/drawing/2014/main" id="{DCC7D3F9-AB05-25E2-A060-96BC7F08F2D3}"/>
              </a:ext>
            </a:extLst>
          </p:cNvPr>
          <p:cNvSpPr>
            <a:spLocks/>
          </p:cNvSpPr>
          <p:nvPr/>
        </p:nvSpPr>
        <p:spPr>
          <a:xfrm>
            <a:off x="7037036" y="1069073"/>
            <a:ext cx="3271343" cy="7528384"/>
          </a:xfrm>
          <a:prstGeom prst="roundRect">
            <a:avLst>
              <a:gd name="adj" fmla="val 3961"/>
            </a:avLst>
          </a:prstGeom>
          <a:noFill/>
          <a:ln w="12700" cap="flat">
            <a:solidFill>
              <a:srgbClr val="40404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44" name="Rectangle 3143">
            <a:extLst>
              <a:ext uri="{FF2B5EF4-FFF2-40B4-BE49-F238E27FC236}">
                <a16:creationId xmlns:a16="http://schemas.microsoft.com/office/drawing/2014/main" id="{2EC8158C-0316-E11D-8250-A8807BE9497E}"/>
              </a:ext>
            </a:extLst>
          </p:cNvPr>
          <p:cNvSpPr/>
          <p:nvPr/>
        </p:nvSpPr>
        <p:spPr>
          <a:xfrm>
            <a:off x="7254777" y="996370"/>
            <a:ext cx="1665557" cy="16669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45" name="TextBox 3144">
            <a:extLst>
              <a:ext uri="{FF2B5EF4-FFF2-40B4-BE49-F238E27FC236}">
                <a16:creationId xmlns:a16="http://schemas.microsoft.com/office/drawing/2014/main" id="{74EB6888-5E7C-F702-9CA6-FDDCBACBA60A}"/>
              </a:ext>
            </a:extLst>
          </p:cNvPr>
          <p:cNvSpPr txBox="1"/>
          <p:nvPr/>
        </p:nvSpPr>
        <p:spPr>
          <a:xfrm>
            <a:off x="7245898" y="876006"/>
            <a:ext cx="1674436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Runtime Settings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46" name="TextBox 3145">
            <a:extLst>
              <a:ext uri="{FF2B5EF4-FFF2-40B4-BE49-F238E27FC236}">
                <a16:creationId xmlns:a16="http://schemas.microsoft.com/office/drawing/2014/main" id="{4E4B6E43-C9C7-E9EC-23D7-C272DADDDD15}"/>
              </a:ext>
            </a:extLst>
          </p:cNvPr>
          <p:cNvSpPr txBox="1"/>
          <p:nvPr/>
        </p:nvSpPr>
        <p:spPr>
          <a:xfrm>
            <a:off x="7048017" y="1185905"/>
            <a:ext cx="3260361" cy="6436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0" i="0" dirty="0">
                <a:solidFill>
                  <a:srgbClr val="404041"/>
                </a:solidFill>
                <a:effectLst/>
                <a:latin typeface="Open Sans Light" panose="020B0606030504020204" pitchFamily="34" charset="0"/>
              </a:rPr>
              <a:t>Tune and scale </a:t>
            </a:r>
            <a:r>
              <a:rPr lang="en-US" sz="1100" i="0" dirty="0">
                <a:solidFill>
                  <a:srgbClr val="404041"/>
                </a:solidFill>
                <a:effectLst/>
                <a:latin typeface="Open Sans Light" panose="020B0606030504020204" pitchFamily="34" charset="0"/>
              </a:rPr>
              <a:t>applications</a:t>
            </a:r>
            <a:r>
              <a:rPr lang="en-US" sz="1100" b="0" i="0" dirty="0">
                <a:solidFill>
                  <a:srgbClr val="404041"/>
                </a:solidFill>
                <a:effectLst/>
                <a:latin typeface="Open Sans Light" panose="020B0606030504020204" pitchFamily="34" charset="0"/>
              </a:rPr>
              <a:t> and </a:t>
            </a:r>
            <a:r>
              <a:rPr lang="en-US" sz="1100" i="0" dirty="0">
                <a:solidFill>
                  <a:srgbClr val="404041"/>
                </a:solidFill>
                <a:effectLst/>
                <a:latin typeface="Open Sans Light" panose="020B0606030504020204" pitchFamily="34" charset="0"/>
              </a:rPr>
              <a:t>APIs </a:t>
            </a:r>
            <a:r>
              <a:rPr lang="en-US" sz="1100" b="0" i="0" dirty="0">
                <a:solidFill>
                  <a:srgbClr val="404041"/>
                </a:solidFill>
                <a:effectLst/>
                <a:latin typeface="Open Sans Light" panose="020B0606030504020204" pitchFamily="34" charset="0"/>
              </a:rPr>
              <a:t>by modifying the number of processes (e.g., Python and R sessions) and connections per process</a:t>
            </a:r>
            <a:endParaRPr kumimoji="0" lang="en-US" sz="110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52" name="TextBox 3151">
            <a:extLst>
              <a:ext uri="{FF2B5EF4-FFF2-40B4-BE49-F238E27FC236}">
                <a16:creationId xmlns:a16="http://schemas.microsoft.com/office/drawing/2014/main" id="{B6680456-BAD6-92DF-791B-2BABC2F2B199}"/>
              </a:ext>
            </a:extLst>
          </p:cNvPr>
          <p:cNvSpPr txBox="1"/>
          <p:nvPr/>
        </p:nvSpPr>
        <p:spPr>
          <a:xfrm>
            <a:off x="7120182" y="2932731"/>
            <a:ext cx="3105049" cy="9822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0" i="0" dirty="0">
                <a:solidFill>
                  <a:srgbClr val="404041"/>
                </a:solidFill>
                <a:effectLst/>
                <a:latin typeface="Open Sans Light" panose="020B0606030504020204" pitchFamily="34" charset="0"/>
              </a:rPr>
              <a:t>In this above configuration, the content can accommodate up to 100 concurrent connections (20 x 5). There will also be at least one process always running, meaning the content never goes to sleep</a:t>
            </a:r>
            <a:endParaRPr kumimoji="0" lang="en-US" sz="110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55" name="TextBox 3154">
            <a:extLst>
              <a:ext uri="{FF2B5EF4-FFF2-40B4-BE49-F238E27FC236}">
                <a16:creationId xmlns:a16="http://schemas.microsoft.com/office/drawing/2014/main" id="{4DE9E6AF-49AF-9094-26C7-5C4C3E564B18}"/>
              </a:ext>
            </a:extLst>
          </p:cNvPr>
          <p:cNvSpPr txBox="1"/>
          <p:nvPr/>
        </p:nvSpPr>
        <p:spPr>
          <a:xfrm>
            <a:off x="7048017" y="3840621"/>
            <a:ext cx="3249378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Other Runtime Settings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56" name="TextBox 3155">
            <a:extLst>
              <a:ext uri="{FF2B5EF4-FFF2-40B4-BE49-F238E27FC236}">
                <a16:creationId xmlns:a16="http://schemas.microsoft.com/office/drawing/2014/main" id="{A40ECC82-2AFC-B3FC-B5B2-D5BA7A7D6348}"/>
              </a:ext>
            </a:extLst>
          </p:cNvPr>
          <p:cNvSpPr txBox="1"/>
          <p:nvPr/>
        </p:nvSpPr>
        <p:spPr>
          <a:xfrm>
            <a:off x="7082310" y="4087152"/>
            <a:ext cx="3105049" cy="8129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0" dirty="0"/>
              <a:t>Easily modify how your content runs by modifying any of the below settings. </a:t>
            </a:r>
            <a:r>
              <a:rPr lang="en-US" sz="1100" dirty="0"/>
              <a:t>Note</a:t>
            </a:r>
            <a:r>
              <a:rPr lang="en-US" sz="1100" b="0" dirty="0"/>
              <a:t>: some options may not be available depending on how Posit Connect is configured in your environment</a:t>
            </a:r>
            <a:endParaRPr kumimoji="0" lang="en-US" sz="11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63" name="Rounded Rectangle 3162">
            <a:extLst>
              <a:ext uri="{FF2B5EF4-FFF2-40B4-BE49-F238E27FC236}">
                <a16:creationId xmlns:a16="http://schemas.microsoft.com/office/drawing/2014/main" id="{C5C5C538-C493-5BA6-E52A-565F3DBE213D}"/>
              </a:ext>
            </a:extLst>
          </p:cNvPr>
          <p:cNvSpPr>
            <a:spLocks/>
          </p:cNvSpPr>
          <p:nvPr/>
        </p:nvSpPr>
        <p:spPr>
          <a:xfrm>
            <a:off x="10435486" y="1069074"/>
            <a:ext cx="3271343" cy="3637166"/>
          </a:xfrm>
          <a:prstGeom prst="roundRect">
            <a:avLst>
              <a:gd name="adj" fmla="val 3961"/>
            </a:avLst>
          </a:prstGeom>
          <a:noFill/>
          <a:ln w="12700" cap="flat">
            <a:solidFill>
              <a:srgbClr val="40404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64" name="Rectangle 3163">
            <a:extLst>
              <a:ext uri="{FF2B5EF4-FFF2-40B4-BE49-F238E27FC236}">
                <a16:creationId xmlns:a16="http://schemas.microsoft.com/office/drawing/2014/main" id="{0F66E4F3-253E-78C1-FD84-4710972A42E5}"/>
              </a:ext>
            </a:extLst>
          </p:cNvPr>
          <p:cNvSpPr/>
          <p:nvPr/>
        </p:nvSpPr>
        <p:spPr>
          <a:xfrm>
            <a:off x="10622406" y="996370"/>
            <a:ext cx="969241" cy="16080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65" name="TextBox 3164">
            <a:extLst>
              <a:ext uri="{FF2B5EF4-FFF2-40B4-BE49-F238E27FC236}">
                <a16:creationId xmlns:a16="http://schemas.microsoft.com/office/drawing/2014/main" id="{64289A7C-D007-5CDF-3787-56F127A404D0}"/>
              </a:ext>
            </a:extLst>
          </p:cNvPr>
          <p:cNvSpPr txBox="1"/>
          <p:nvPr/>
        </p:nvSpPr>
        <p:spPr>
          <a:xfrm>
            <a:off x="10623799" y="876006"/>
            <a:ext cx="1169801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Schedule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66" name="TextBox 3165">
            <a:extLst>
              <a:ext uri="{FF2B5EF4-FFF2-40B4-BE49-F238E27FC236}">
                <a16:creationId xmlns:a16="http://schemas.microsoft.com/office/drawing/2014/main" id="{DD192458-5199-A368-57FD-B89320E4F781}"/>
              </a:ext>
            </a:extLst>
          </p:cNvPr>
          <p:cNvSpPr txBox="1"/>
          <p:nvPr/>
        </p:nvSpPr>
        <p:spPr>
          <a:xfrm>
            <a:off x="10956668" y="1145729"/>
            <a:ext cx="2299561" cy="4744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Documents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can be configured to execute on a schedule</a:t>
            </a:r>
          </a:p>
        </p:txBody>
      </p:sp>
      <p:pic>
        <p:nvPicPr>
          <p:cNvPr id="3167" name="Picture 3166">
            <a:extLst>
              <a:ext uri="{FF2B5EF4-FFF2-40B4-BE49-F238E27FC236}">
                <a16:creationId xmlns:a16="http://schemas.microsoft.com/office/drawing/2014/main" id="{FD4824D9-6F93-2DCB-02D6-A707640F24A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447874" y="2024253"/>
            <a:ext cx="902303" cy="1229852"/>
          </a:xfrm>
          <a:prstGeom prst="rect">
            <a:avLst/>
          </a:prstGeom>
        </p:spPr>
      </p:pic>
      <p:cxnSp>
        <p:nvCxnSpPr>
          <p:cNvPr id="3168" name="Straight Arrow Connector 3167">
            <a:extLst>
              <a:ext uri="{FF2B5EF4-FFF2-40B4-BE49-F238E27FC236}">
                <a16:creationId xmlns:a16="http://schemas.microsoft.com/office/drawing/2014/main" id="{8FA078C8-1C88-2568-680D-0F7F9C67C074}"/>
              </a:ext>
            </a:extLst>
          </p:cNvPr>
          <p:cNvCxnSpPr>
            <a:cxnSpLocks/>
            <a:endCxn id="3167" idx="1"/>
          </p:cNvCxnSpPr>
          <p:nvPr/>
        </p:nvCxnSpPr>
        <p:spPr>
          <a:xfrm>
            <a:off x="11788694" y="2429932"/>
            <a:ext cx="659180" cy="209247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ysDot"/>
            <a:miter lim="400000"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70" name="TextBox 3169">
            <a:extLst>
              <a:ext uri="{FF2B5EF4-FFF2-40B4-BE49-F238E27FC236}">
                <a16:creationId xmlns:a16="http://schemas.microsoft.com/office/drawing/2014/main" id="{C92BC060-6969-56B5-BA91-054168A91657}"/>
              </a:ext>
            </a:extLst>
          </p:cNvPr>
          <p:cNvSpPr txBox="1"/>
          <p:nvPr/>
        </p:nvSpPr>
        <p:spPr>
          <a:xfrm>
            <a:off x="12162140" y="1713684"/>
            <a:ext cx="1494475" cy="3051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Schedule type options</a:t>
            </a:r>
          </a:p>
        </p:txBody>
      </p:sp>
      <p:cxnSp>
        <p:nvCxnSpPr>
          <p:cNvPr id="3174" name="Straight Arrow Connector 3173">
            <a:extLst>
              <a:ext uri="{FF2B5EF4-FFF2-40B4-BE49-F238E27FC236}">
                <a16:creationId xmlns:a16="http://schemas.microsoft.com/office/drawing/2014/main" id="{68EA7C6B-0504-84BB-3ECC-9C1CE01F5757}"/>
              </a:ext>
            </a:extLst>
          </p:cNvPr>
          <p:cNvCxnSpPr>
            <a:cxnSpLocks/>
          </p:cNvCxnSpPr>
          <p:nvPr/>
        </p:nvCxnSpPr>
        <p:spPr>
          <a:xfrm>
            <a:off x="11208699" y="3461607"/>
            <a:ext cx="600777" cy="206522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ysDot"/>
            <a:miter lim="400000"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77" name="TextBox 3176">
            <a:extLst>
              <a:ext uri="{FF2B5EF4-FFF2-40B4-BE49-F238E27FC236}">
                <a16:creationId xmlns:a16="http://schemas.microsoft.com/office/drawing/2014/main" id="{44318513-CA2A-078E-DD6B-EC186B6670DA}"/>
              </a:ext>
            </a:extLst>
          </p:cNvPr>
          <p:cNvSpPr txBox="1"/>
          <p:nvPr/>
        </p:nvSpPr>
        <p:spPr>
          <a:xfrm>
            <a:off x="11966074" y="3287940"/>
            <a:ext cx="1842695" cy="3051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Email configuration options</a:t>
            </a:r>
          </a:p>
        </p:txBody>
      </p:sp>
      <p:sp>
        <p:nvSpPr>
          <p:cNvPr id="3179" name="Rounded Rectangle 3178">
            <a:extLst>
              <a:ext uri="{FF2B5EF4-FFF2-40B4-BE49-F238E27FC236}">
                <a16:creationId xmlns:a16="http://schemas.microsoft.com/office/drawing/2014/main" id="{D71B8DA3-3218-D2C9-018D-1AC7E8C638D9}"/>
              </a:ext>
            </a:extLst>
          </p:cNvPr>
          <p:cNvSpPr>
            <a:spLocks/>
          </p:cNvSpPr>
          <p:nvPr/>
        </p:nvSpPr>
        <p:spPr>
          <a:xfrm>
            <a:off x="10442412" y="4865432"/>
            <a:ext cx="3271343" cy="1438695"/>
          </a:xfrm>
          <a:prstGeom prst="roundRect">
            <a:avLst>
              <a:gd name="adj" fmla="val 3961"/>
            </a:avLst>
          </a:prstGeom>
          <a:noFill/>
          <a:ln w="12700" cap="flat">
            <a:solidFill>
              <a:srgbClr val="40404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80" name="Rectangle 3179">
            <a:extLst>
              <a:ext uri="{FF2B5EF4-FFF2-40B4-BE49-F238E27FC236}">
                <a16:creationId xmlns:a16="http://schemas.microsoft.com/office/drawing/2014/main" id="{10CAA792-B966-0E0A-8A87-202AC78BC2FE}"/>
              </a:ext>
            </a:extLst>
          </p:cNvPr>
          <p:cNvSpPr/>
          <p:nvPr/>
        </p:nvSpPr>
        <p:spPr>
          <a:xfrm>
            <a:off x="10629332" y="4792728"/>
            <a:ext cx="867675" cy="11639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81" name="TextBox 3180">
            <a:extLst>
              <a:ext uri="{FF2B5EF4-FFF2-40B4-BE49-F238E27FC236}">
                <a16:creationId xmlns:a16="http://schemas.microsoft.com/office/drawing/2014/main" id="{D467B7F6-1D06-49A9-659A-5CD8C04EC0BD}"/>
              </a:ext>
            </a:extLst>
          </p:cNvPr>
          <p:cNvSpPr txBox="1"/>
          <p:nvPr/>
        </p:nvSpPr>
        <p:spPr>
          <a:xfrm>
            <a:off x="10630725" y="4672365"/>
            <a:ext cx="867675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Monitor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82" name="TextBox 3181">
            <a:extLst>
              <a:ext uri="{FF2B5EF4-FFF2-40B4-BE49-F238E27FC236}">
                <a16:creationId xmlns:a16="http://schemas.microsoft.com/office/drawing/2014/main" id="{3120B92A-5365-B329-6EA8-C8F3DC81F666}"/>
              </a:ext>
            </a:extLst>
          </p:cNvPr>
          <p:cNvSpPr txBox="1"/>
          <p:nvPr/>
        </p:nvSpPr>
        <p:spPr>
          <a:xfrm>
            <a:off x="10536974" y="5245384"/>
            <a:ext cx="1429100" cy="6898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i="0" dirty="0">
                <a:solidFill>
                  <a:srgbClr val="404041"/>
                </a:solidFill>
                <a:effectLst/>
                <a:latin typeface="Open Sans Light" panose="020B0606030504020204" pitchFamily="34" charset="0"/>
              </a:rPr>
              <a:t>View number of visitors to your content and logs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83" name="Rounded Rectangle 3182">
            <a:extLst>
              <a:ext uri="{FF2B5EF4-FFF2-40B4-BE49-F238E27FC236}">
                <a16:creationId xmlns:a16="http://schemas.microsoft.com/office/drawing/2014/main" id="{2926BF15-D43B-0FB3-DC18-CF0C68A5AE72}"/>
              </a:ext>
            </a:extLst>
          </p:cNvPr>
          <p:cNvSpPr>
            <a:spLocks/>
          </p:cNvSpPr>
          <p:nvPr/>
        </p:nvSpPr>
        <p:spPr>
          <a:xfrm>
            <a:off x="10430662" y="6493152"/>
            <a:ext cx="3271343" cy="2104305"/>
          </a:xfrm>
          <a:prstGeom prst="roundRect">
            <a:avLst>
              <a:gd name="adj" fmla="val 3961"/>
            </a:avLst>
          </a:prstGeom>
          <a:noFill/>
          <a:ln w="12700" cap="flat">
            <a:solidFill>
              <a:srgbClr val="40404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84" name="Rectangle 3183">
            <a:extLst>
              <a:ext uri="{FF2B5EF4-FFF2-40B4-BE49-F238E27FC236}">
                <a16:creationId xmlns:a16="http://schemas.microsoft.com/office/drawing/2014/main" id="{8CAA8F8E-562E-6FBD-B765-772CF8639A89}"/>
              </a:ext>
            </a:extLst>
          </p:cNvPr>
          <p:cNvSpPr/>
          <p:nvPr/>
        </p:nvSpPr>
        <p:spPr>
          <a:xfrm>
            <a:off x="10617582" y="6420448"/>
            <a:ext cx="2190130" cy="12761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85" name="TextBox 3184">
            <a:extLst>
              <a:ext uri="{FF2B5EF4-FFF2-40B4-BE49-F238E27FC236}">
                <a16:creationId xmlns:a16="http://schemas.microsoft.com/office/drawing/2014/main" id="{1087DAAF-9B7E-4EC5-7707-C57286726A05}"/>
              </a:ext>
            </a:extLst>
          </p:cNvPr>
          <p:cNvSpPr txBox="1"/>
          <p:nvPr/>
        </p:nvSpPr>
        <p:spPr>
          <a:xfrm>
            <a:off x="10618975" y="6300085"/>
            <a:ext cx="2190130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Environment Variables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87" name="TextBox 3186">
            <a:extLst>
              <a:ext uri="{FF2B5EF4-FFF2-40B4-BE49-F238E27FC236}">
                <a16:creationId xmlns:a16="http://schemas.microsoft.com/office/drawing/2014/main" id="{C3B34C43-8922-B810-E0BB-D086179EF5D4}"/>
              </a:ext>
            </a:extLst>
          </p:cNvPr>
          <p:cNvSpPr txBox="1"/>
          <p:nvPr/>
        </p:nvSpPr>
        <p:spPr>
          <a:xfrm>
            <a:off x="10506043" y="6692576"/>
            <a:ext cx="1323939" cy="17978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0" dirty="0">
                <a:solidFill>
                  <a:srgbClr val="202020"/>
                </a:solidFill>
                <a:latin typeface="Lato" panose="020F0502020204030204" pitchFamily="34" charset="0"/>
              </a:rPr>
              <a:t>Securely p</a:t>
            </a:r>
            <a:r>
              <a:rPr lang="en-US" b="0" i="0" dirty="0">
                <a:solidFill>
                  <a:srgbClr val="202020"/>
                </a:solidFill>
                <a:effectLst/>
                <a:latin typeface="Lato" panose="020F0502020204030204" pitchFamily="34" charset="0"/>
              </a:rPr>
              <a:t>ass configuration options to your content as environment variables including </a:t>
            </a:r>
            <a:r>
              <a:rPr lang="en-US" i="0" dirty="0">
                <a:solidFill>
                  <a:srgbClr val="202020"/>
                </a:solidFill>
                <a:effectLst/>
                <a:latin typeface="Lato" panose="020F0502020204030204" pitchFamily="34" charset="0"/>
              </a:rPr>
              <a:t>API Keys</a:t>
            </a:r>
            <a:r>
              <a:rPr lang="en-US" b="0" i="0" dirty="0">
                <a:solidFill>
                  <a:srgbClr val="202020"/>
                </a:solidFill>
                <a:effectLst/>
                <a:latin typeface="Lato" panose="020F0502020204030204" pitchFamily="34" charset="0"/>
              </a:rPr>
              <a:t> and </a:t>
            </a:r>
            <a:r>
              <a:rPr lang="en-US" i="0" dirty="0">
                <a:solidFill>
                  <a:srgbClr val="202020"/>
                </a:solidFill>
                <a:effectLst/>
                <a:latin typeface="Lato" panose="020F0502020204030204" pitchFamily="34" charset="0"/>
              </a:rPr>
              <a:t>Passwords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88" name="TextBox 3187">
            <a:extLst>
              <a:ext uri="{FF2B5EF4-FFF2-40B4-BE49-F238E27FC236}">
                <a16:creationId xmlns:a16="http://schemas.microsoft.com/office/drawing/2014/main" id="{9D63C5D7-3881-2C7E-77A3-E1395C45A1F4}"/>
              </a:ext>
            </a:extLst>
          </p:cNvPr>
          <p:cNvSpPr txBox="1"/>
          <p:nvPr/>
        </p:nvSpPr>
        <p:spPr>
          <a:xfrm>
            <a:off x="321912" y="8883612"/>
            <a:ext cx="3172721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Need Help? Want to learn More?</a:t>
            </a:r>
          </a:p>
        </p:txBody>
      </p:sp>
      <p:sp>
        <p:nvSpPr>
          <p:cNvPr id="3190" name="TextBox 3189">
            <a:extLst>
              <a:ext uri="{FF2B5EF4-FFF2-40B4-BE49-F238E27FC236}">
                <a16:creationId xmlns:a16="http://schemas.microsoft.com/office/drawing/2014/main" id="{C830CA04-CEB9-B434-21A6-C8BFEE6CE149}"/>
              </a:ext>
            </a:extLst>
          </p:cNvPr>
          <p:cNvSpPr txBox="1"/>
          <p:nvPr/>
        </p:nvSpPr>
        <p:spPr>
          <a:xfrm>
            <a:off x="11837595" y="8934605"/>
            <a:ext cx="1882643" cy="1059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Learn more about Posit Team through free on-demand courses and live workshops: 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  <a:hlinkClick r:id="rId28"/>
              </a:rPr>
              <a:t>https://academy.posit.co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cxnSp>
        <p:nvCxnSpPr>
          <p:cNvPr id="3192" name="Straight Connector 3191">
            <a:extLst>
              <a:ext uri="{FF2B5EF4-FFF2-40B4-BE49-F238E27FC236}">
                <a16:creationId xmlns:a16="http://schemas.microsoft.com/office/drawing/2014/main" id="{F675CD54-19D5-F847-7253-1F68670E45F6}"/>
              </a:ext>
            </a:extLst>
          </p:cNvPr>
          <p:cNvCxnSpPr/>
          <p:nvPr/>
        </p:nvCxnSpPr>
        <p:spPr>
          <a:xfrm>
            <a:off x="10283364" y="9036329"/>
            <a:ext cx="0" cy="956421"/>
          </a:xfrm>
          <a:prstGeom prst="line">
            <a:avLst/>
          </a:prstGeom>
          <a:ln w="28575">
            <a:solidFill>
              <a:srgbClr val="44709A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D031336-FBF5-4F32-7EE6-52D6DE601FD4}"/>
              </a:ext>
            </a:extLst>
          </p:cNvPr>
          <p:cNvSpPr txBox="1"/>
          <p:nvPr/>
        </p:nvSpPr>
        <p:spPr>
          <a:xfrm>
            <a:off x="4670694" y="4061916"/>
            <a:ext cx="2108185" cy="4744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Share content by sharing the Content URL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AC22FD-6F5D-0026-7FEA-F6FAC996E991}"/>
              </a:ext>
            </a:extLst>
          </p:cNvPr>
          <p:cNvSpPr txBox="1"/>
          <p:nvPr/>
        </p:nvSpPr>
        <p:spPr>
          <a:xfrm>
            <a:off x="10595247" y="3666493"/>
            <a:ext cx="1332393" cy="9822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kumimoji="0" lang="en-US" sz="11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Tip: 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Learn how to send custom and conditional emails: </a:t>
            </a:r>
            <a:r>
              <a:rPr kumimoji="0" lang="en-US" sz="1100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pos.it</a:t>
            </a:r>
            <a:r>
              <a:rPr kumimoji="0" lang="en-US" sz="11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/</a:t>
            </a:r>
            <a:r>
              <a:rPr kumimoji="0" lang="en-US" sz="1100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rmd_email</a:t>
            </a: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 &amp; </a:t>
            </a:r>
            <a:r>
              <a:rPr kumimoji="0" lang="en-US" sz="1100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pos.it</a:t>
            </a:r>
            <a:r>
              <a:rPr kumimoji="0" lang="en-US" sz="11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/</a:t>
            </a:r>
            <a:r>
              <a:rPr kumimoji="0" lang="en-US" sz="1100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qmd_email</a:t>
            </a:r>
            <a:endParaRPr kumimoji="0" lang="en-US" sz="110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2E3789-2998-7316-BF6A-EB98C742872B}"/>
              </a:ext>
            </a:extLst>
          </p:cNvPr>
          <p:cNvSpPr txBox="1"/>
          <p:nvPr/>
        </p:nvSpPr>
        <p:spPr>
          <a:xfrm>
            <a:off x="287738" y="9199161"/>
            <a:ext cx="4019803" cy="9747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864" tIns="54570" rIns="54570" bIns="54570" numCol="1" spcCol="38100" rtlCol="0" anchor="t">
            <a:noAutofit/>
          </a:bodyPr>
          <a:lstStyle/>
          <a:p>
            <a:pPr marL="0" marR="0" indent="0" algn="l" defTabSz="584200" rtl="0" fontAlgn="auto" latinLnBrk="0" hangingPunct="0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Questions about sales and licensing 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Wingdings" pitchFamily="2" charset="2"/>
              </a:rPr>
              <a:t> </a:t>
            </a:r>
            <a:r>
              <a:rPr kumimoji="0" lang="en-US" sz="12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Wingdings" pitchFamily="2" charset="2"/>
                <a:hlinkClick r:id="rId29"/>
              </a:rPr>
              <a:t>sales@posit.co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Wingdings" pitchFamily="2" charset="2"/>
            </a:endParaRP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Technical Issues 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Wingdings" pitchFamily="2" charset="2"/>
              </a:rPr>
              <a:t> </a:t>
            </a:r>
            <a:r>
              <a:rPr kumimoji="0" lang="en-US" sz="12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Wingdings" pitchFamily="2" charset="2"/>
                <a:hlinkClick r:id="rId29"/>
              </a:rPr>
              <a:t>support@posit.co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Wingdings" pitchFamily="2" charset="2"/>
            </a:endParaRP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Wingdings" pitchFamily="2" charset="2"/>
              </a:rPr>
              <a:t>Other questions?  </a:t>
            </a:r>
            <a:r>
              <a:rPr kumimoji="0" lang="en-US" sz="12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Wingdings" pitchFamily="2" charset="2"/>
                <a:hlinkClick r:id="rId30"/>
              </a:rPr>
              <a:t>info@posit.co</a:t>
            </a:r>
            <a:endParaRPr kumimoji="0" lang="en-US" sz="120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Wingdings" pitchFamily="2" charset="2"/>
            </a:endParaRPr>
          </a:p>
          <a:p>
            <a:pPr marL="0" marR="0" indent="0" algn="l" defTabSz="584200" rtl="0" fontAlgn="auto" latinLnBrk="0" hangingPunct="0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F879CE-ADFB-357F-06D3-D495958BA7A4}"/>
              </a:ext>
            </a:extLst>
          </p:cNvPr>
          <p:cNvCxnSpPr/>
          <p:nvPr/>
        </p:nvCxnSpPr>
        <p:spPr>
          <a:xfrm>
            <a:off x="4017858" y="9035991"/>
            <a:ext cx="0" cy="956421"/>
          </a:xfrm>
          <a:prstGeom prst="line">
            <a:avLst/>
          </a:prstGeom>
          <a:ln w="28575">
            <a:solidFill>
              <a:srgbClr val="44709A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osit Publisher">
            <a:extLst>
              <a:ext uri="{FF2B5EF4-FFF2-40B4-BE49-F238E27FC236}">
                <a16:creationId xmlns:a16="http://schemas.microsoft.com/office/drawing/2014/main" id="{0C3CDF72-89F0-F247-E7DE-B7BACE2FB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130" y="7859308"/>
            <a:ext cx="359308" cy="35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4A819DC-040B-E846-FAA9-F344BFE70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21342" t="29298" r="22481" b="23525"/>
          <a:stretch/>
        </p:blipFill>
        <p:spPr>
          <a:xfrm>
            <a:off x="1491089" y="7485393"/>
            <a:ext cx="322107" cy="27050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46C9A63-3D5F-276F-0649-3504A9D095B4}"/>
              </a:ext>
            </a:extLst>
          </p:cNvPr>
          <p:cNvSpPr txBox="1"/>
          <p:nvPr/>
        </p:nvSpPr>
        <p:spPr>
          <a:xfrm>
            <a:off x="3097730" y="7828779"/>
            <a:ext cx="1066826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40404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Posit Publisher Extension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68CCE6-79B8-2F6E-630C-9DA54D30AA54}"/>
              </a:ext>
            </a:extLst>
          </p:cNvPr>
          <p:cNvCxnSpPr>
            <a:cxnSpLocks/>
            <a:stCxn id="1026" idx="1"/>
          </p:cNvCxnSpPr>
          <p:nvPr/>
        </p:nvCxnSpPr>
        <p:spPr>
          <a:xfrm flipH="1" flipV="1">
            <a:off x="2211312" y="7784337"/>
            <a:ext cx="583818" cy="254625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ysDot"/>
            <a:miter lim="400000"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5" name="Picture 34" descr="A black and white text&#10;&#10;Description automatically generated">
            <a:extLst>
              <a:ext uri="{FF2B5EF4-FFF2-40B4-BE49-F238E27FC236}">
                <a16:creationId xmlns:a16="http://schemas.microsoft.com/office/drawing/2014/main" id="{CFC5EBD7-E487-C26E-16B2-2CD6DB15608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318" y="8997921"/>
            <a:ext cx="1796220" cy="32691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19C3789-7E69-592A-0425-7A579FD3C531}"/>
              </a:ext>
            </a:extLst>
          </p:cNvPr>
          <p:cNvSpPr txBox="1"/>
          <p:nvPr/>
        </p:nvSpPr>
        <p:spPr>
          <a:xfrm>
            <a:off x="8180371" y="9272928"/>
            <a:ext cx="2102994" cy="7155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0" i="0" dirty="0">
                <a:solidFill>
                  <a:srgbClr val="40404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Open forum for any open source or Posit Team question: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  <a:hlinkClick r:id="rId33"/>
              </a:rPr>
              <a:t>https://forum.posit.co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48EE2C1-E5D1-5709-E2C1-70A2C7E56A77}"/>
              </a:ext>
            </a:extLst>
          </p:cNvPr>
          <p:cNvCxnSpPr/>
          <p:nvPr/>
        </p:nvCxnSpPr>
        <p:spPr>
          <a:xfrm>
            <a:off x="8070483" y="9018101"/>
            <a:ext cx="0" cy="956421"/>
          </a:xfrm>
          <a:prstGeom prst="line">
            <a:avLst/>
          </a:prstGeom>
          <a:ln w="28575">
            <a:solidFill>
              <a:srgbClr val="44709A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D98F745-889C-984F-EF0E-CFF7C478B9C7}"/>
              </a:ext>
            </a:extLst>
          </p:cNvPr>
          <p:cNvSpPr txBox="1"/>
          <p:nvPr/>
        </p:nvSpPr>
        <p:spPr>
          <a:xfrm>
            <a:off x="4050689" y="9411989"/>
            <a:ext cx="3992440" cy="5609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864" tIns="54570" rIns="54570" bIns="54570" numCol="1" spcCol="38100" rtlCol="0" anchor="t">
            <a:noAutofit/>
          </a:bodyPr>
          <a:lstStyle/>
          <a:p>
            <a:pPr marL="0" marR="0" indent="0" algn="l" defTabSz="584200" rtl="0" fontAlgn="auto" latinLnBrk="0" hangingPunct="0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Wingdings" pitchFamily="2" charset="2"/>
              </a:rPr>
              <a:t>Posit Team d</a:t>
            </a:r>
            <a:r>
              <a:rPr lang="en-US" b="0" dirty="0">
                <a:sym typeface="Wingdings" pitchFamily="2" charset="2"/>
              </a:rPr>
              <a:t>ocs 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Wingdings" pitchFamily="2" charset="2"/>
              </a:rPr>
              <a:t> </a:t>
            </a:r>
            <a:r>
              <a:rPr kumimoji="0" lang="en-US" sz="12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Wingdings" pitchFamily="2" charset="2"/>
                <a:hlinkClick r:id="rId34"/>
              </a:rPr>
              <a:t>https://docs.posit.co</a:t>
            </a:r>
            <a:endParaRPr kumimoji="0" lang="en-US" sz="120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Wingdings" pitchFamily="2" charset="2"/>
            </a:endParaRPr>
          </a:p>
          <a:p>
            <a:pPr marL="0" marR="0" indent="0" algn="l" defTabSz="584200" rtl="0" fontAlgn="auto" latinLnBrk="0" hangingPunct="0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Wingdings" pitchFamily="2" charset="2"/>
              </a:rPr>
              <a:t>Release notes  </a:t>
            </a:r>
            <a:r>
              <a:rPr kumimoji="0" lang="en-US" sz="12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Wingdings" pitchFamily="2" charset="2"/>
                <a:hlinkClick r:id="rId35"/>
              </a:rPr>
              <a:t>https://docs.posit.co/release-notes.html</a:t>
            </a:r>
            <a:endParaRPr kumimoji="0" lang="en-US" sz="120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Wingdings" pitchFamily="2" charset="2"/>
            </a:endParaRPr>
          </a:p>
        </p:txBody>
      </p:sp>
      <p:pic>
        <p:nvPicPr>
          <p:cNvPr id="40" name="Picture 39" descr="A black and white logo&#10;&#10;Description automatically generated">
            <a:extLst>
              <a:ext uri="{FF2B5EF4-FFF2-40B4-BE49-F238E27FC236}">
                <a16:creationId xmlns:a16="http://schemas.microsoft.com/office/drawing/2014/main" id="{7B68FCD8-7E27-B124-C514-577A8089441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269" y="9025364"/>
            <a:ext cx="2863629" cy="43065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D6A48CC-C047-BAD9-9D36-F06ADB64EF32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23837" y="3462618"/>
            <a:ext cx="2416916" cy="392806"/>
          </a:xfrm>
          <a:prstGeom prst="rect">
            <a:avLst/>
          </a:prstGeom>
        </p:spPr>
      </p:pic>
      <p:pic>
        <p:nvPicPr>
          <p:cNvPr id="34" name="Graphic 33" descr="NodeJS Vector Logo SVG - Free Download | Worldvectorlogo">
            <a:extLst>
              <a:ext uri="{FF2B5EF4-FFF2-40B4-BE49-F238E27FC236}">
                <a16:creationId xmlns:a16="http://schemas.microsoft.com/office/drawing/2014/main" id="{7329FB20-2FE6-B157-1BE7-FAFE040F2D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584749" y="4275772"/>
            <a:ext cx="1261812" cy="357345"/>
          </a:xfrm>
          <a:prstGeom prst="rect">
            <a:avLst/>
          </a:prstGeom>
        </p:spPr>
      </p:pic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4A61AF1-D217-9240-4405-8883EED9E927}"/>
              </a:ext>
            </a:extLst>
          </p:cNvPr>
          <p:cNvSpPr>
            <a:spLocks/>
          </p:cNvSpPr>
          <p:nvPr/>
        </p:nvSpPr>
        <p:spPr>
          <a:xfrm>
            <a:off x="254581" y="4122795"/>
            <a:ext cx="3867946" cy="707720"/>
          </a:xfrm>
          <a:prstGeom prst="roundRect">
            <a:avLst/>
          </a:prstGeom>
          <a:noFill/>
          <a:ln w="12700" cap="flat">
            <a:solidFill>
              <a:srgbClr val="40404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465B0E-016E-A3A6-D4ED-E1A4F9F15A3B}"/>
              </a:ext>
            </a:extLst>
          </p:cNvPr>
          <p:cNvSpPr txBox="1"/>
          <p:nvPr/>
        </p:nvSpPr>
        <p:spPr>
          <a:xfrm>
            <a:off x="761708" y="3950842"/>
            <a:ext cx="734583" cy="351297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Node.js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FCA053C-F927-8D53-BB28-470CE2E09CB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865131" y="7441405"/>
            <a:ext cx="358479" cy="358479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25533E-AF67-CD3E-0799-1E68C5BF9972}"/>
              </a:ext>
            </a:extLst>
          </p:cNvPr>
          <p:cNvCxnSpPr>
            <a:cxnSpLocks/>
            <a:stCxn id="1026" idx="1"/>
          </p:cNvCxnSpPr>
          <p:nvPr/>
        </p:nvCxnSpPr>
        <p:spPr>
          <a:xfrm flipH="1" flipV="1">
            <a:off x="1801762" y="7784337"/>
            <a:ext cx="993368" cy="254625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ysDot"/>
            <a:miter lim="400000"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EE5BA7B6-A396-4C1A-8A5C-736C4ED828C5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869328" y="6586836"/>
            <a:ext cx="358479" cy="358479"/>
          </a:xfrm>
          <a:prstGeom prst="rect">
            <a:avLst/>
          </a:prstGeom>
        </p:spPr>
      </p:pic>
      <p:pic>
        <p:nvPicPr>
          <p:cNvPr id="3136" name="Picture 3135" descr="Panel v1.9.4 - Home">
            <a:extLst>
              <a:ext uri="{FF2B5EF4-FFF2-40B4-BE49-F238E27FC236}">
                <a16:creationId xmlns:a16="http://schemas.microsoft.com/office/drawing/2014/main" id="{AC1EBD98-65CE-7C2B-D98B-3134D8BCA4FC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931513" y="2073398"/>
            <a:ext cx="933593" cy="219096"/>
          </a:xfrm>
          <a:prstGeom prst="rect">
            <a:avLst/>
          </a:prstGeom>
        </p:spPr>
      </p:pic>
      <p:pic>
        <p:nvPicPr>
          <p:cNvPr id="3137" name="Picture 3136">
            <a:extLst>
              <a:ext uri="{FF2B5EF4-FFF2-40B4-BE49-F238E27FC236}">
                <a16:creationId xmlns:a16="http://schemas.microsoft.com/office/drawing/2014/main" id="{7CC0D37E-726E-4C36-C173-36E79EECA0F6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974096" y="2205387"/>
            <a:ext cx="1515714" cy="1827847"/>
          </a:xfrm>
          <a:prstGeom prst="rect">
            <a:avLst/>
          </a:prstGeom>
        </p:spPr>
      </p:pic>
      <p:cxnSp>
        <p:nvCxnSpPr>
          <p:cNvPr id="3142" name="Straight Arrow Connector 3141">
            <a:extLst>
              <a:ext uri="{FF2B5EF4-FFF2-40B4-BE49-F238E27FC236}">
                <a16:creationId xmlns:a16="http://schemas.microsoft.com/office/drawing/2014/main" id="{29A35F9F-2589-D96F-622A-0CA9D0CBDB40}"/>
              </a:ext>
            </a:extLst>
          </p:cNvPr>
          <p:cNvCxnSpPr>
            <a:cxnSpLocks/>
          </p:cNvCxnSpPr>
          <p:nvPr/>
        </p:nvCxnSpPr>
        <p:spPr>
          <a:xfrm flipV="1">
            <a:off x="5165558" y="3600451"/>
            <a:ext cx="267368" cy="540833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ysDot"/>
            <a:miter lim="400000"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50" name="TextBox 3149">
            <a:extLst>
              <a:ext uri="{FF2B5EF4-FFF2-40B4-BE49-F238E27FC236}">
                <a16:creationId xmlns:a16="http://schemas.microsoft.com/office/drawing/2014/main" id="{04C6B2E6-A030-4698-ED66-20DDBD52C9C5}"/>
              </a:ext>
            </a:extLst>
          </p:cNvPr>
          <p:cNvSpPr txBox="1"/>
          <p:nvPr/>
        </p:nvSpPr>
        <p:spPr>
          <a:xfrm>
            <a:off x="4553724" y="4824245"/>
            <a:ext cx="2294305" cy="6514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100" b="0" i="0" dirty="0">
                <a:solidFill>
                  <a:srgbClr val="404041"/>
                </a:solidFill>
                <a:effectLst/>
                <a:latin typeface="Open Sans Light" panose="020B0606030504020204" pitchFamily="34" charset="0"/>
              </a:rPr>
              <a:t>Content Bundles</a:t>
            </a:r>
          </a:p>
          <a:p>
            <a:pPr marL="171450" indent="-171450">
              <a:buFontTx/>
              <a:buChar char="-"/>
            </a:pPr>
            <a:r>
              <a:rPr lang="en-US" sz="1100" b="0" dirty="0">
                <a:solidFill>
                  <a:srgbClr val="404041"/>
                </a:solidFill>
                <a:latin typeface="Open Sans Light" panose="020B0606030504020204" pitchFamily="34" charset="0"/>
              </a:rPr>
              <a:t>Language/Quarto Versions</a:t>
            </a:r>
          </a:p>
          <a:p>
            <a:pPr marL="171450" indent="-171450">
              <a:buFontTx/>
              <a:buChar char="-"/>
            </a:pPr>
            <a:r>
              <a:rPr lang="en-US" sz="1100" b="0" i="0" dirty="0">
                <a:solidFill>
                  <a:srgbClr val="404041"/>
                </a:solidFill>
                <a:effectLst/>
                <a:latin typeface="Open Sans Light" panose="020B0606030504020204" pitchFamily="34" charset="0"/>
              </a:rPr>
              <a:t>Package Dependencies</a:t>
            </a:r>
          </a:p>
        </p:txBody>
      </p:sp>
      <p:pic>
        <p:nvPicPr>
          <p:cNvPr id="3153" name="Picture 3152">
            <a:extLst>
              <a:ext uri="{FF2B5EF4-FFF2-40B4-BE49-F238E27FC236}">
                <a16:creationId xmlns:a16="http://schemas.microsoft.com/office/drawing/2014/main" id="{60AFBD8A-D274-717C-1DE3-07CD26799DCF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b="23673"/>
          <a:stretch>
            <a:fillRect/>
          </a:stretch>
        </p:blipFill>
        <p:spPr>
          <a:xfrm>
            <a:off x="4592843" y="5478760"/>
            <a:ext cx="2278219" cy="1634840"/>
          </a:xfrm>
          <a:prstGeom prst="rect">
            <a:avLst/>
          </a:prstGeom>
        </p:spPr>
      </p:pic>
      <p:sp>
        <p:nvSpPr>
          <p:cNvPr id="3171" name="Rounded Rectangle 3170">
            <a:extLst>
              <a:ext uri="{FF2B5EF4-FFF2-40B4-BE49-F238E27FC236}">
                <a16:creationId xmlns:a16="http://schemas.microsoft.com/office/drawing/2014/main" id="{C8BBEDDB-751F-B6A4-0725-46994DE2E3E3}"/>
              </a:ext>
            </a:extLst>
          </p:cNvPr>
          <p:cNvSpPr>
            <a:spLocks/>
          </p:cNvSpPr>
          <p:nvPr/>
        </p:nvSpPr>
        <p:spPr>
          <a:xfrm>
            <a:off x="4551313" y="7332884"/>
            <a:ext cx="2361279" cy="1264574"/>
          </a:xfrm>
          <a:prstGeom prst="roundRect">
            <a:avLst>
              <a:gd name="adj" fmla="val 3961"/>
            </a:avLst>
          </a:prstGeom>
          <a:noFill/>
          <a:ln w="12700" cap="flat">
            <a:solidFill>
              <a:srgbClr val="40404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73" name="Rectangle 3172">
            <a:extLst>
              <a:ext uri="{FF2B5EF4-FFF2-40B4-BE49-F238E27FC236}">
                <a16:creationId xmlns:a16="http://schemas.microsoft.com/office/drawing/2014/main" id="{76EA49D1-6FFE-ECF5-5167-20B1B28FB4C7}"/>
              </a:ext>
            </a:extLst>
          </p:cNvPr>
          <p:cNvSpPr/>
          <p:nvPr/>
        </p:nvSpPr>
        <p:spPr>
          <a:xfrm>
            <a:off x="4705640" y="7248434"/>
            <a:ext cx="717346" cy="16669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75" name="TextBox 3174">
            <a:extLst>
              <a:ext uri="{FF2B5EF4-FFF2-40B4-BE49-F238E27FC236}">
                <a16:creationId xmlns:a16="http://schemas.microsoft.com/office/drawing/2014/main" id="{59814883-4677-5FB9-7157-06A3C1C15B9F}"/>
              </a:ext>
            </a:extLst>
          </p:cNvPr>
          <p:cNvSpPr txBox="1"/>
          <p:nvPr/>
        </p:nvSpPr>
        <p:spPr>
          <a:xfrm>
            <a:off x="4696760" y="7134645"/>
            <a:ext cx="993593" cy="382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Access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176" name="Picture 3175">
            <a:extLst>
              <a:ext uri="{FF2B5EF4-FFF2-40B4-BE49-F238E27FC236}">
                <a16:creationId xmlns:a16="http://schemas.microsoft.com/office/drawing/2014/main" id="{76E29FC4-220C-02A0-CBED-81A18DF10C69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625601" y="7544004"/>
            <a:ext cx="1875999" cy="975988"/>
          </a:xfrm>
          <a:prstGeom prst="rect">
            <a:avLst/>
          </a:prstGeom>
        </p:spPr>
      </p:pic>
      <p:sp>
        <p:nvSpPr>
          <p:cNvPr id="3191" name="TextBox 3190">
            <a:extLst>
              <a:ext uri="{FF2B5EF4-FFF2-40B4-BE49-F238E27FC236}">
                <a16:creationId xmlns:a16="http://schemas.microsoft.com/office/drawing/2014/main" id="{E7AF3EE5-C7E9-8C31-681A-56F52019E583}"/>
              </a:ext>
            </a:extLst>
          </p:cNvPr>
          <p:cNvSpPr txBox="1"/>
          <p:nvPr/>
        </p:nvSpPr>
        <p:spPr>
          <a:xfrm>
            <a:off x="5560978" y="7366879"/>
            <a:ext cx="1306341" cy="47440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Configure who can access your content</a:t>
            </a:r>
          </a:p>
        </p:txBody>
      </p:sp>
      <p:pic>
        <p:nvPicPr>
          <p:cNvPr id="3199" name="Picture 3198">
            <a:extLst>
              <a:ext uri="{FF2B5EF4-FFF2-40B4-BE49-F238E27FC236}">
                <a16:creationId xmlns:a16="http://schemas.microsoft.com/office/drawing/2014/main" id="{A3669030-AF2E-1CA7-B5FD-A51C6279C918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111989" y="1794189"/>
            <a:ext cx="3121434" cy="1214344"/>
          </a:xfrm>
          <a:prstGeom prst="rect">
            <a:avLst/>
          </a:prstGeom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41B5DF95-FADC-78BE-94C1-6935D7ADDD7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120183" y="4986262"/>
            <a:ext cx="1510841" cy="925875"/>
          </a:xfrm>
          <a:prstGeom prst="rect">
            <a:avLst/>
          </a:prstGeom>
        </p:spPr>
      </p:pic>
      <p:pic>
        <p:nvPicPr>
          <p:cNvPr id="1027" name="Picture 1026">
            <a:extLst>
              <a:ext uri="{FF2B5EF4-FFF2-40B4-BE49-F238E27FC236}">
                <a16:creationId xmlns:a16="http://schemas.microsoft.com/office/drawing/2014/main" id="{BA4260AA-FABD-1ACE-73CD-B6638AB057D4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661600" y="4978008"/>
            <a:ext cx="1597177" cy="955055"/>
          </a:xfrm>
          <a:prstGeom prst="rect">
            <a:avLst/>
          </a:prstGeom>
        </p:spPr>
      </p:pic>
      <p:pic>
        <p:nvPicPr>
          <p:cNvPr id="1028" name="Picture 1027">
            <a:extLst>
              <a:ext uri="{FF2B5EF4-FFF2-40B4-BE49-F238E27FC236}">
                <a16:creationId xmlns:a16="http://schemas.microsoft.com/office/drawing/2014/main" id="{26084D25-622C-1D4D-DE95-5DF097506041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231990" y="6043967"/>
            <a:ext cx="2908736" cy="2354905"/>
          </a:xfrm>
          <a:prstGeom prst="rect">
            <a:avLst/>
          </a:prstGeom>
        </p:spPr>
      </p:pic>
      <p:pic>
        <p:nvPicPr>
          <p:cNvPr id="1029" name="Picture 1028">
            <a:extLst>
              <a:ext uri="{FF2B5EF4-FFF2-40B4-BE49-F238E27FC236}">
                <a16:creationId xmlns:a16="http://schemas.microsoft.com/office/drawing/2014/main" id="{E770E4F9-63FF-B792-E256-32B754D9A2B4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1643451" y="6925106"/>
            <a:ext cx="2024479" cy="1281551"/>
          </a:xfrm>
          <a:prstGeom prst="rect">
            <a:avLst/>
          </a:prstGeom>
        </p:spPr>
      </p:pic>
      <p:pic>
        <p:nvPicPr>
          <p:cNvPr id="1030" name="Picture 1029">
            <a:extLst>
              <a:ext uri="{FF2B5EF4-FFF2-40B4-BE49-F238E27FC236}">
                <a16:creationId xmlns:a16="http://schemas.microsoft.com/office/drawing/2014/main" id="{150CAB63-06C6-0B31-DCAD-3DBDD7470F1B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1902595" y="4934592"/>
            <a:ext cx="1635553" cy="1356998"/>
          </a:xfrm>
          <a:prstGeom prst="rect">
            <a:avLst/>
          </a:prstGeom>
        </p:spPr>
      </p:pic>
      <p:pic>
        <p:nvPicPr>
          <p:cNvPr id="1032" name="Picture 1031">
            <a:extLst>
              <a:ext uri="{FF2B5EF4-FFF2-40B4-BE49-F238E27FC236}">
                <a16:creationId xmlns:a16="http://schemas.microsoft.com/office/drawing/2014/main" id="{6F2EE4B4-CBEB-A797-B10E-140D3844D504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746" y="9063067"/>
            <a:ext cx="1243948" cy="79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9213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10188</TotalTime>
  <Words>924</Words>
  <Application>Microsoft Macintosh PowerPoint</Application>
  <PresentationFormat>Custom</PresentationFormat>
  <Paragraphs>126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Avenir</vt:lpstr>
      <vt:lpstr>Helvetica Light</vt:lpstr>
      <vt:lpstr>Lato</vt:lpstr>
      <vt:lpstr>Open Sans Light</vt:lpstr>
      <vt:lpstr>Source Code Pro</vt:lpstr>
      <vt:lpstr>Source Sans Pro</vt:lpstr>
      <vt:lpstr>Source Sans Pro Light</vt:lpstr>
      <vt:lpstr>Source Sans Pro Semibold</vt:lpstr>
      <vt:lpstr>Wingdings</vt:lpstr>
      <vt:lpstr>White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 </dc:title>
  <cp:lastModifiedBy>Ryan Johnson</cp:lastModifiedBy>
  <cp:revision>30</cp:revision>
  <dcterms:modified xsi:type="dcterms:W3CDTF">2026-09-01T17:57:20Z</dcterms:modified>
</cp:coreProperties>
</file>