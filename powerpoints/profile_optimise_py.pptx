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5" r:id="rId5"/>
  </p:sldIdLst>
  <p:sldSz cx="24323675" cy="13716000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ython" id="{69314FD5-3573-48CD-9414-26EC9147F7F8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F5FD"/>
    <a:srgbClr val="60A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792A67-5833-41EE-94FA-71A5107877C4}" v="1" dt="2025-01-31T13:58:06.2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076" autoAdjust="0"/>
  </p:normalViewPr>
  <p:slideViewPr>
    <p:cSldViewPr snapToGrid="0">
      <p:cViewPr>
        <p:scale>
          <a:sx n="28" d="100"/>
          <a:sy n="28" d="100"/>
        </p:scale>
        <p:origin x="107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0460" y="2244726"/>
            <a:ext cx="18242756" cy="4775200"/>
          </a:xfrm>
        </p:spPr>
        <p:txBody>
          <a:bodyPr anchor="b"/>
          <a:lstStyle>
            <a:lvl1pPr algn="ctr">
              <a:defRPr sz="1197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0460" y="7204076"/>
            <a:ext cx="18242756" cy="3311524"/>
          </a:xfrm>
        </p:spPr>
        <p:txBody>
          <a:bodyPr/>
          <a:lstStyle>
            <a:lvl1pPr marL="0" indent="0" algn="ctr">
              <a:buNone/>
              <a:defRPr sz="4788"/>
            </a:lvl1pPr>
            <a:lvl2pPr marL="912160" indent="0" algn="ctr">
              <a:buNone/>
              <a:defRPr sz="3990"/>
            </a:lvl2pPr>
            <a:lvl3pPr marL="1824319" indent="0" algn="ctr">
              <a:buNone/>
              <a:defRPr sz="3591"/>
            </a:lvl3pPr>
            <a:lvl4pPr marL="2736479" indent="0" algn="ctr">
              <a:buNone/>
              <a:defRPr sz="3192"/>
            </a:lvl4pPr>
            <a:lvl5pPr marL="3648639" indent="0" algn="ctr">
              <a:buNone/>
              <a:defRPr sz="3192"/>
            </a:lvl5pPr>
            <a:lvl6pPr marL="4560799" indent="0" algn="ctr">
              <a:buNone/>
              <a:defRPr sz="3192"/>
            </a:lvl6pPr>
            <a:lvl7pPr marL="5472958" indent="0" algn="ctr">
              <a:buNone/>
              <a:defRPr sz="3192"/>
            </a:lvl7pPr>
            <a:lvl8pPr marL="6385118" indent="0" algn="ctr">
              <a:buNone/>
              <a:defRPr sz="3192"/>
            </a:lvl8pPr>
            <a:lvl9pPr marL="7297278" indent="0" algn="ctr">
              <a:buNone/>
              <a:defRPr sz="31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052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920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9584" y="3419477"/>
            <a:ext cx="20979170" cy="5705474"/>
          </a:xfrm>
        </p:spPr>
        <p:txBody>
          <a:bodyPr anchor="b"/>
          <a:lstStyle>
            <a:lvl1pPr>
              <a:defRPr sz="1197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9584" y="9178927"/>
            <a:ext cx="20979170" cy="3000374"/>
          </a:xfrm>
        </p:spPr>
        <p:txBody>
          <a:bodyPr/>
          <a:lstStyle>
            <a:lvl1pPr marL="0" indent="0">
              <a:buNone/>
              <a:defRPr sz="4788">
                <a:solidFill>
                  <a:schemeClr val="tx1">
                    <a:tint val="82000"/>
                  </a:schemeClr>
                </a:solidFill>
              </a:defRPr>
            </a:lvl1pPr>
            <a:lvl2pPr marL="912160" indent="0">
              <a:buNone/>
              <a:defRPr sz="3990">
                <a:solidFill>
                  <a:schemeClr val="tx1">
                    <a:tint val="82000"/>
                  </a:schemeClr>
                </a:solidFill>
              </a:defRPr>
            </a:lvl2pPr>
            <a:lvl3pPr marL="1824319" indent="0">
              <a:buNone/>
              <a:defRPr sz="3591">
                <a:solidFill>
                  <a:schemeClr val="tx1">
                    <a:tint val="82000"/>
                  </a:schemeClr>
                </a:solidFill>
              </a:defRPr>
            </a:lvl3pPr>
            <a:lvl4pPr marL="2736479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4pPr>
            <a:lvl5pPr marL="3648639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5pPr>
            <a:lvl6pPr marL="4560799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6pPr>
            <a:lvl7pPr marL="5472958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7pPr>
            <a:lvl8pPr marL="6385118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8pPr>
            <a:lvl9pPr marL="7297278" indent="0">
              <a:buNone/>
              <a:defRPr sz="31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98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72253" y="3651250"/>
            <a:ext cx="10337562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13860" y="3651250"/>
            <a:ext cx="10337562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4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421" y="730251"/>
            <a:ext cx="20979170" cy="265112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422" y="3362326"/>
            <a:ext cx="10290054" cy="1647824"/>
          </a:xfrm>
        </p:spPr>
        <p:txBody>
          <a:bodyPr anchor="b"/>
          <a:lstStyle>
            <a:lvl1pPr marL="0" indent="0">
              <a:buNone/>
              <a:defRPr sz="4788" b="1"/>
            </a:lvl1pPr>
            <a:lvl2pPr marL="912160" indent="0">
              <a:buNone/>
              <a:defRPr sz="3990" b="1"/>
            </a:lvl2pPr>
            <a:lvl3pPr marL="1824319" indent="0">
              <a:buNone/>
              <a:defRPr sz="3591" b="1"/>
            </a:lvl3pPr>
            <a:lvl4pPr marL="2736479" indent="0">
              <a:buNone/>
              <a:defRPr sz="3192" b="1"/>
            </a:lvl4pPr>
            <a:lvl5pPr marL="3648639" indent="0">
              <a:buNone/>
              <a:defRPr sz="3192" b="1"/>
            </a:lvl5pPr>
            <a:lvl6pPr marL="4560799" indent="0">
              <a:buNone/>
              <a:defRPr sz="3192" b="1"/>
            </a:lvl6pPr>
            <a:lvl7pPr marL="5472958" indent="0">
              <a:buNone/>
              <a:defRPr sz="3192" b="1"/>
            </a:lvl7pPr>
            <a:lvl8pPr marL="6385118" indent="0">
              <a:buNone/>
              <a:defRPr sz="3192" b="1"/>
            </a:lvl8pPr>
            <a:lvl9pPr marL="7297278" indent="0">
              <a:buNone/>
              <a:defRPr sz="31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75422" y="5010150"/>
            <a:ext cx="1029005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13860" y="3362326"/>
            <a:ext cx="10340730" cy="1647824"/>
          </a:xfrm>
        </p:spPr>
        <p:txBody>
          <a:bodyPr anchor="b"/>
          <a:lstStyle>
            <a:lvl1pPr marL="0" indent="0">
              <a:buNone/>
              <a:defRPr sz="4788" b="1"/>
            </a:lvl1pPr>
            <a:lvl2pPr marL="912160" indent="0">
              <a:buNone/>
              <a:defRPr sz="3990" b="1"/>
            </a:lvl2pPr>
            <a:lvl3pPr marL="1824319" indent="0">
              <a:buNone/>
              <a:defRPr sz="3591" b="1"/>
            </a:lvl3pPr>
            <a:lvl4pPr marL="2736479" indent="0">
              <a:buNone/>
              <a:defRPr sz="3192" b="1"/>
            </a:lvl4pPr>
            <a:lvl5pPr marL="3648639" indent="0">
              <a:buNone/>
              <a:defRPr sz="3192" b="1"/>
            </a:lvl5pPr>
            <a:lvl6pPr marL="4560799" indent="0">
              <a:buNone/>
              <a:defRPr sz="3192" b="1"/>
            </a:lvl6pPr>
            <a:lvl7pPr marL="5472958" indent="0">
              <a:buNone/>
              <a:defRPr sz="3192" b="1"/>
            </a:lvl7pPr>
            <a:lvl8pPr marL="6385118" indent="0">
              <a:buNone/>
              <a:defRPr sz="3192" b="1"/>
            </a:lvl8pPr>
            <a:lvl9pPr marL="7297278" indent="0">
              <a:buNone/>
              <a:defRPr sz="31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13860" y="5010150"/>
            <a:ext cx="1034073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77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216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6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422" y="914400"/>
            <a:ext cx="7845018" cy="3200400"/>
          </a:xfrm>
        </p:spPr>
        <p:txBody>
          <a:bodyPr anchor="b"/>
          <a:lstStyle>
            <a:lvl1pPr>
              <a:defRPr sz="638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40730" y="1974851"/>
            <a:ext cx="12313860" cy="9747250"/>
          </a:xfrm>
        </p:spPr>
        <p:txBody>
          <a:bodyPr/>
          <a:lstStyle>
            <a:lvl1pPr>
              <a:defRPr sz="6384"/>
            </a:lvl1pPr>
            <a:lvl2pPr>
              <a:defRPr sz="5586"/>
            </a:lvl2pPr>
            <a:lvl3pPr>
              <a:defRPr sz="4788"/>
            </a:lvl3pPr>
            <a:lvl4pPr>
              <a:defRPr sz="3990"/>
            </a:lvl4pPr>
            <a:lvl5pPr>
              <a:defRPr sz="3990"/>
            </a:lvl5pPr>
            <a:lvl6pPr>
              <a:defRPr sz="3990"/>
            </a:lvl6pPr>
            <a:lvl7pPr>
              <a:defRPr sz="3990"/>
            </a:lvl7pPr>
            <a:lvl8pPr>
              <a:defRPr sz="3990"/>
            </a:lvl8pPr>
            <a:lvl9pPr>
              <a:defRPr sz="399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5422" y="4114800"/>
            <a:ext cx="7845018" cy="7623176"/>
          </a:xfrm>
        </p:spPr>
        <p:txBody>
          <a:bodyPr/>
          <a:lstStyle>
            <a:lvl1pPr marL="0" indent="0">
              <a:buNone/>
              <a:defRPr sz="3192"/>
            </a:lvl1pPr>
            <a:lvl2pPr marL="912160" indent="0">
              <a:buNone/>
              <a:defRPr sz="2793"/>
            </a:lvl2pPr>
            <a:lvl3pPr marL="1824319" indent="0">
              <a:buNone/>
              <a:defRPr sz="2394"/>
            </a:lvl3pPr>
            <a:lvl4pPr marL="2736479" indent="0">
              <a:buNone/>
              <a:defRPr sz="1995"/>
            </a:lvl4pPr>
            <a:lvl5pPr marL="3648639" indent="0">
              <a:buNone/>
              <a:defRPr sz="1995"/>
            </a:lvl5pPr>
            <a:lvl6pPr marL="4560799" indent="0">
              <a:buNone/>
              <a:defRPr sz="1995"/>
            </a:lvl6pPr>
            <a:lvl7pPr marL="5472958" indent="0">
              <a:buNone/>
              <a:defRPr sz="1995"/>
            </a:lvl7pPr>
            <a:lvl8pPr marL="6385118" indent="0">
              <a:buNone/>
              <a:defRPr sz="1995"/>
            </a:lvl8pPr>
            <a:lvl9pPr marL="7297278" indent="0">
              <a:buNone/>
              <a:defRPr sz="199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56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5422" y="914400"/>
            <a:ext cx="7845018" cy="3200400"/>
          </a:xfrm>
        </p:spPr>
        <p:txBody>
          <a:bodyPr anchor="b"/>
          <a:lstStyle>
            <a:lvl1pPr>
              <a:defRPr sz="638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340730" y="1974851"/>
            <a:ext cx="12313860" cy="9747250"/>
          </a:xfrm>
        </p:spPr>
        <p:txBody>
          <a:bodyPr anchor="t"/>
          <a:lstStyle>
            <a:lvl1pPr marL="0" indent="0">
              <a:buNone/>
              <a:defRPr sz="6384"/>
            </a:lvl1pPr>
            <a:lvl2pPr marL="912160" indent="0">
              <a:buNone/>
              <a:defRPr sz="5586"/>
            </a:lvl2pPr>
            <a:lvl3pPr marL="1824319" indent="0">
              <a:buNone/>
              <a:defRPr sz="4788"/>
            </a:lvl3pPr>
            <a:lvl4pPr marL="2736479" indent="0">
              <a:buNone/>
              <a:defRPr sz="3990"/>
            </a:lvl4pPr>
            <a:lvl5pPr marL="3648639" indent="0">
              <a:buNone/>
              <a:defRPr sz="3990"/>
            </a:lvl5pPr>
            <a:lvl6pPr marL="4560799" indent="0">
              <a:buNone/>
              <a:defRPr sz="3990"/>
            </a:lvl6pPr>
            <a:lvl7pPr marL="5472958" indent="0">
              <a:buNone/>
              <a:defRPr sz="3990"/>
            </a:lvl7pPr>
            <a:lvl8pPr marL="6385118" indent="0">
              <a:buNone/>
              <a:defRPr sz="3990"/>
            </a:lvl8pPr>
            <a:lvl9pPr marL="7297278" indent="0">
              <a:buNone/>
              <a:defRPr sz="399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5422" y="4114800"/>
            <a:ext cx="7845018" cy="7623176"/>
          </a:xfrm>
        </p:spPr>
        <p:txBody>
          <a:bodyPr/>
          <a:lstStyle>
            <a:lvl1pPr marL="0" indent="0">
              <a:buNone/>
              <a:defRPr sz="3192"/>
            </a:lvl1pPr>
            <a:lvl2pPr marL="912160" indent="0">
              <a:buNone/>
              <a:defRPr sz="2793"/>
            </a:lvl2pPr>
            <a:lvl3pPr marL="1824319" indent="0">
              <a:buNone/>
              <a:defRPr sz="2394"/>
            </a:lvl3pPr>
            <a:lvl4pPr marL="2736479" indent="0">
              <a:buNone/>
              <a:defRPr sz="1995"/>
            </a:lvl4pPr>
            <a:lvl5pPr marL="3648639" indent="0">
              <a:buNone/>
              <a:defRPr sz="1995"/>
            </a:lvl5pPr>
            <a:lvl6pPr marL="4560799" indent="0">
              <a:buNone/>
              <a:defRPr sz="1995"/>
            </a:lvl6pPr>
            <a:lvl7pPr marL="5472958" indent="0">
              <a:buNone/>
              <a:defRPr sz="1995"/>
            </a:lvl7pPr>
            <a:lvl8pPr marL="6385118" indent="0">
              <a:buNone/>
              <a:defRPr sz="1995"/>
            </a:lvl8pPr>
            <a:lvl9pPr marL="7297278" indent="0">
              <a:buNone/>
              <a:defRPr sz="199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325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054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06630" y="730250"/>
            <a:ext cx="5244792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2253" y="730250"/>
            <a:ext cx="15430331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14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2253" y="730251"/>
            <a:ext cx="2097917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2253" y="3651250"/>
            <a:ext cx="2097917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2253" y="12712701"/>
            <a:ext cx="547282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0D46D8-BD22-47A1-BD7A-07A5FE3E416C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57218" y="12712701"/>
            <a:ext cx="820924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178595" y="12712701"/>
            <a:ext cx="5472827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9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7FF5B-073D-4FC7-AB98-C6D08B23D6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49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4319" rtl="0" eaLnBrk="1" latinLnBrk="0" hangingPunct="1">
        <a:lnSpc>
          <a:spcPct val="90000"/>
        </a:lnSpc>
        <a:spcBef>
          <a:spcPct val="0"/>
        </a:spcBef>
        <a:buNone/>
        <a:defRPr sz="877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080" indent="-456080" algn="l" defTabSz="1824319" rtl="0" eaLnBrk="1" latinLnBrk="0" hangingPunct="1">
        <a:lnSpc>
          <a:spcPct val="90000"/>
        </a:lnSpc>
        <a:spcBef>
          <a:spcPts val="1995"/>
        </a:spcBef>
        <a:buFont typeface="Arial" panose="020B0604020202020204" pitchFamily="34" charset="0"/>
        <a:buChar char="•"/>
        <a:defRPr sz="5586" kern="1200">
          <a:solidFill>
            <a:schemeClr val="tx1"/>
          </a:solidFill>
          <a:latin typeface="+mn-lt"/>
          <a:ea typeface="+mn-ea"/>
          <a:cs typeface="+mn-cs"/>
        </a:defRPr>
      </a:lvl1pPr>
      <a:lvl2pPr marL="1368240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4788" kern="1200">
          <a:solidFill>
            <a:schemeClr val="tx1"/>
          </a:solidFill>
          <a:latin typeface="+mn-lt"/>
          <a:ea typeface="+mn-ea"/>
          <a:cs typeface="+mn-cs"/>
        </a:defRPr>
      </a:lvl2pPr>
      <a:lvl3pPr marL="2280399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990" kern="1200">
          <a:solidFill>
            <a:schemeClr val="tx1"/>
          </a:solidFill>
          <a:latin typeface="+mn-lt"/>
          <a:ea typeface="+mn-ea"/>
          <a:cs typeface="+mn-cs"/>
        </a:defRPr>
      </a:lvl3pPr>
      <a:lvl4pPr marL="3192559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4pPr>
      <a:lvl5pPr marL="4104719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5pPr>
      <a:lvl6pPr marL="5016878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6pPr>
      <a:lvl7pPr marL="5929038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7pPr>
      <a:lvl8pPr marL="6841198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8pPr>
      <a:lvl9pPr marL="7753358" indent="-456080" algn="l" defTabSz="1824319" rtl="0" eaLnBrk="1" latinLnBrk="0" hangingPunct="1">
        <a:lnSpc>
          <a:spcPct val="90000"/>
        </a:lnSpc>
        <a:spcBef>
          <a:spcPts val="998"/>
        </a:spcBef>
        <a:buFont typeface="Arial" panose="020B0604020202020204" pitchFamily="34" charset="0"/>
        <a:buChar char="•"/>
        <a:defRPr sz="35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1pPr>
      <a:lvl2pPr marL="912160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2pPr>
      <a:lvl3pPr marL="1824319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3pPr>
      <a:lvl4pPr marL="2736479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4pPr>
      <a:lvl5pPr marL="3648639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5pPr>
      <a:lvl6pPr marL="4560799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6pPr>
      <a:lvl7pPr marL="5472958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7pPr>
      <a:lvl8pPr marL="6385118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8pPr>
      <a:lvl9pPr marL="7297278" algn="l" defTabSz="1824319" rtl="0" eaLnBrk="1" latinLnBrk="0" hangingPunct="1">
        <a:defRPr sz="35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svg"/><Relationship Id="rId26" Type="http://schemas.openxmlformats.org/officeDocument/2006/relationships/image" Target="../media/image24.svg"/><Relationship Id="rId39" Type="http://schemas.openxmlformats.org/officeDocument/2006/relationships/image" Target="../media/image37.png"/><Relationship Id="rId21" Type="http://schemas.openxmlformats.org/officeDocument/2006/relationships/image" Target="../media/image19.png"/><Relationship Id="rId34" Type="http://schemas.openxmlformats.org/officeDocument/2006/relationships/image" Target="../media/image32.svg"/><Relationship Id="rId42" Type="http://schemas.openxmlformats.org/officeDocument/2006/relationships/image" Target="../media/image40.sv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24" Type="http://schemas.openxmlformats.org/officeDocument/2006/relationships/image" Target="../media/image22.svg"/><Relationship Id="rId32" Type="http://schemas.openxmlformats.org/officeDocument/2006/relationships/image" Target="../media/image30.svg"/><Relationship Id="rId37" Type="http://schemas.openxmlformats.org/officeDocument/2006/relationships/image" Target="../media/image35.png"/><Relationship Id="rId40" Type="http://schemas.openxmlformats.org/officeDocument/2006/relationships/image" Target="../media/image38.svg"/><Relationship Id="rId45" Type="http://schemas.openxmlformats.org/officeDocument/2006/relationships/image" Target="../media/image43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svg"/><Relationship Id="rId36" Type="http://schemas.openxmlformats.org/officeDocument/2006/relationships/image" Target="../media/image34.svg"/><Relationship Id="rId10" Type="http://schemas.openxmlformats.org/officeDocument/2006/relationships/image" Target="../media/image8.svg"/><Relationship Id="rId19" Type="http://schemas.openxmlformats.org/officeDocument/2006/relationships/image" Target="../media/image17.png"/><Relationship Id="rId31" Type="http://schemas.openxmlformats.org/officeDocument/2006/relationships/image" Target="../media/image29.png"/><Relationship Id="rId44" Type="http://schemas.openxmlformats.org/officeDocument/2006/relationships/image" Target="../media/image42.sv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svg"/><Relationship Id="rId27" Type="http://schemas.openxmlformats.org/officeDocument/2006/relationships/image" Target="../media/image25.png"/><Relationship Id="rId30" Type="http://schemas.openxmlformats.org/officeDocument/2006/relationships/image" Target="../media/image28.sv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6.svg"/><Relationship Id="rId3" Type="http://schemas.openxmlformats.org/officeDocument/2006/relationships/hyperlink" Target="https://github.com/carpentries-incubator/pando-python" TargetMode="External"/><Relationship Id="rId12" Type="http://schemas.openxmlformats.org/officeDocument/2006/relationships/image" Target="../media/image10.sv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33" Type="http://schemas.openxmlformats.org/officeDocument/2006/relationships/image" Target="../media/image31.png"/><Relationship Id="rId38" Type="http://schemas.openxmlformats.org/officeDocument/2006/relationships/image" Target="../media/image36.svg"/><Relationship Id="rId46" Type="http://schemas.openxmlformats.org/officeDocument/2006/relationships/image" Target="../media/image44.svg"/><Relationship Id="rId20" Type="http://schemas.openxmlformats.org/officeDocument/2006/relationships/image" Target="../media/image18.svg"/><Relationship Id="rId4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CD46F-EE7E-77F5-3F6A-73BF65D04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A5AB3F0-550A-460C-926E-09E36E15883E}"/>
              </a:ext>
            </a:extLst>
          </p:cNvPr>
          <p:cNvSpPr/>
          <p:nvPr/>
        </p:nvSpPr>
        <p:spPr>
          <a:xfrm>
            <a:off x="449020" y="424518"/>
            <a:ext cx="23425634" cy="6463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200" b="1" dirty="0">
                <a:solidFill>
                  <a:schemeClr val="accent2">
                    <a:lumMod val="50000"/>
                  </a:schemeClr>
                </a:solidFill>
                <a:latin typeface="Segoe UI"/>
              </a:rPr>
              <a:t>Profiling and </a:t>
            </a:r>
            <a:r>
              <a:rPr lang="en-US" sz="4200" b="1" dirty="0" err="1">
                <a:solidFill>
                  <a:schemeClr val="accent2">
                    <a:lumMod val="50000"/>
                  </a:schemeClr>
                </a:solidFill>
                <a:latin typeface="Segoe UI"/>
              </a:rPr>
              <a:t>Optimising</a:t>
            </a:r>
            <a:r>
              <a:rPr lang="en-US" sz="4200" b="1" dirty="0">
                <a:solidFill>
                  <a:schemeClr val="accent2">
                    <a:lumMod val="50000"/>
                  </a:schemeClr>
                </a:solidFill>
                <a:latin typeface="Segoe UI"/>
              </a:rPr>
              <a:t> in Python</a:t>
            </a:r>
            <a:r>
              <a:rPr kumimoji="0" lang="en-US" sz="42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: 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CHEAT SHEET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F68BACC-A357-16E4-16F5-DAF611651919}"/>
              </a:ext>
            </a:extLst>
          </p:cNvPr>
          <p:cNvCxnSpPr>
            <a:cxnSpLocks/>
          </p:cNvCxnSpPr>
          <p:nvPr/>
        </p:nvCxnSpPr>
        <p:spPr>
          <a:xfrm>
            <a:off x="418467" y="13258783"/>
            <a:ext cx="23425634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E32C0C3-DAEA-B42C-BBD9-B690AF49E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2495" y="328603"/>
            <a:ext cx="913443" cy="1008759"/>
          </a:xfrm>
          <a:prstGeom prst="rect">
            <a:avLst/>
          </a:prstGeom>
        </p:spPr>
      </p:pic>
      <p:grpSp>
        <p:nvGrpSpPr>
          <p:cNvPr id="323" name="Group 322">
            <a:extLst>
              <a:ext uri="{FF2B5EF4-FFF2-40B4-BE49-F238E27FC236}">
                <a16:creationId xmlns:a16="http://schemas.microsoft.com/office/drawing/2014/main" id="{8AAD8807-DD83-F9F4-7222-1B3F359FA277}"/>
              </a:ext>
            </a:extLst>
          </p:cNvPr>
          <p:cNvGrpSpPr/>
          <p:nvPr/>
        </p:nvGrpSpPr>
        <p:grpSpPr>
          <a:xfrm>
            <a:off x="449008" y="1571135"/>
            <a:ext cx="7181731" cy="2706455"/>
            <a:chOff x="449014" y="1512312"/>
            <a:chExt cx="7181731" cy="2706455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4651E2E1-C93B-BED7-0AE0-9915E9AEF6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020" y="1512312"/>
              <a:ext cx="7181725" cy="0"/>
            </a:xfrm>
            <a:prstGeom prst="line">
              <a:avLst/>
            </a:prstGeom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1AF93344-9A4F-5579-F6ED-B03CA461CD0D}"/>
                </a:ext>
              </a:extLst>
            </p:cNvPr>
            <p:cNvSpPr>
              <a:spLocks/>
            </p:cNvSpPr>
            <p:nvPr/>
          </p:nvSpPr>
          <p:spPr>
            <a:xfrm>
              <a:off x="449020" y="1655619"/>
              <a:ext cx="7181725" cy="30777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286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2">
                      <a:lumMod val="50000"/>
                    </a:schemeClr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Basics</a:t>
              </a:r>
            </a:p>
          </p:txBody>
        </p:sp>
        <p:sp>
          <p:nvSpPr>
            <p:cNvPr id="496" name="Rectangle 495">
              <a:extLst>
                <a:ext uri="{FF2B5EF4-FFF2-40B4-BE49-F238E27FC236}">
                  <a16:creationId xmlns:a16="http://schemas.microsoft.com/office/drawing/2014/main" id="{19FEB7D3-10A6-6EC8-3A9D-DE21F7B860AC}"/>
                </a:ext>
              </a:extLst>
            </p:cNvPr>
            <p:cNvSpPr>
              <a:spLocks/>
            </p:cNvSpPr>
            <p:nvPr/>
          </p:nvSpPr>
          <p:spPr>
            <a:xfrm>
              <a:off x="449014" y="2287324"/>
              <a:ext cx="7181725" cy="83099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lvl="0">
                <a:spcAft>
                  <a:spcPts val="286"/>
                </a:spcAft>
                <a:defRPr/>
              </a:pPr>
              <a:r>
                <a:rPr lang="en-US" dirty="0">
                  <a:solidFill>
                    <a:schemeClr val="tx1"/>
                  </a:solidFill>
                </a:rPr>
                <a:t>As code grows in complexity, it starts taking longer to execute. Improving code’s performance will makes the work easier and saves energy.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grpSp>
          <p:nvGrpSpPr>
            <p:cNvPr id="561" name="Group 560">
              <a:extLst>
                <a:ext uri="{FF2B5EF4-FFF2-40B4-BE49-F238E27FC236}">
                  <a16:creationId xmlns:a16="http://schemas.microsoft.com/office/drawing/2014/main" id="{E8F0142E-B645-7040-F3A6-417A0C2BA4E3}"/>
                </a:ext>
              </a:extLst>
            </p:cNvPr>
            <p:cNvGrpSpPr/>
            <p:nvPr/>
          </p:nvGrpSpPr>
          <p:grpSpPr>
            <a:xfrm>
              <a:off x="449020" y="3695065"/>
              <a:ext cx="7181725" cy="523702"/>
              <a:chOff x="449020" y="4252515"/>
              <a:chExt cx="7181725" cy="523702"/>
            </a:xfrm>
          </p:grpSpPr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6339093C-566D-A52C-BF80-95D32743C39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48392" y="4268145"/>
                <a:ext cx="6482353" cy="49244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>
                <a:spAutoFit/>
              </a:bodyPr>
              <a:lstStyle/>
              <a:p>
                <a:pPr lvl="0">
                  <a:spcAft>
                    <a:spcPts val="286"/>
                  </a:spcAft>
                  <a:defRPr/>
                </a:pP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The </a:t>
                </a:r>
                <a:r>
                  <a:rPr lang="en-US" sz="1600" dirty="0">
                    <a:solidFill>
                      <a:srgbClr val="000000"/>
                    </a:solidFill>
                    <a:latin typeface="Segoe UI"/>
                  </a:rPr>
                  <a:t>Carpentries Incubator lesson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 can be found on </a:t>
                </a:r>
                <a:r>
                  <a:rPr lang="en-US" sz="1600" dirty="0">
                    <a:solidFill>
                      <a:srgbClr val="000000"/>
                    </a:solidFill>
                    <a:latin typeface="Segoe UI"/>
                  </a:rPr>
                  <a:t>the</a:t>
                </a:r>
                <a:r>
                  <a: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egoe UI"/>
                    <a:ea typeface="+mn-ea"/>
                    <a:cs typeface="+mn-cs"/>
                  </a:rPr>
                  <a:t> GitHub repository:</a:t>
                </a:r>
                <a:r>
                  <a:rPr lang="en-GB" sz="16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 </a:t>
                </a:r>
                <a:r>
                  <a:rPr lang="en-GB" sz="1600" b="1" dirty="0">
                    <a:solidFill>
                      <a:schemeClr val="accent2">
                        <a:lumMod val="50000"/>
                      </a:schemeClr>
                    </a:solidFill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https://github.com/carpentries-incubator/pando-python</a:t>
                </a:r>
                <a:r>
                  <a:rPr lang="en-GB" sz="1600" b="1" dirty="0">
                    <a:solidFill>
                      <a:schemeClr val="accent2">
                        <a:lumMod val="50000"/>
                      </a:schemeClr>
                    </a:solidFill>
                  </a:rPr>
                  <a:t> </a:t>
                </a:r>
                <a:r>
                  <a:rPr lang="en-GB" sz="1600" b="1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 </a:t>
                </a: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endParaRPr>
              </a:p>
            </p:txBody>
          </p:sp>
          <p:pic>
            <p:nvPicPr>
              <p:cNvPr id="504" name="Picture 503">
                <a:extLst>
                  <a:ext uri="{FF2B5EF4-FFF2-40B4-BE49-F238E27FC236}">
                    <a16:creationId xmlns:a16="http://schemas.microsoft.com/office/drawing/2014/main" id="{06344173-8CEF-B188-46A5-60E3B5F719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020" y="4252515"/>
                <a:ext cx="523702" cy="523702"/>
              </a:xfrm>
              <a:prstGeom prst="rect">
                <a:avLst/>
              </a:prstGeom>
            </p:spPr>
          </p:pic>
        </p:grpSp>
      </p:grpSp>
      <p:cxnSp>
        <p:nvCxnSpPr>
          <p:cNvPr id="513" name="Straight Connector 512">
            <a:extLst>
              <a:ext uri="{FF2B5EF4-FFF2-40B4-BE49-F238E27FC236}">
                <a16:creationId xmlns:a16="http://schemas.microsoft.com/office/drawing/2014/main" id="{56BED5E5-3A46-2345-1E44-758ADE340CE4}"/>
              </a:ext>
            </a:extLst>
          </p:cNvPr>
          <p:cNvCxnSpPr>
            <a:cxnSpLocks/>
          </p:cNvCxnSpPr>
          <p:nvPr/>
        </p:nvCxnSpPr>
        <p:spPr>
          <a:xfrm flipV="1">
            <a:off x="449008" y="4638618"/>
            <a:ext cx="718172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" name="Rectangle 513">
            <a:extLst>
              <a:ext uri="{FF2B5EF4-FFF2-40B4-BE49-F238E27FC236}">
                <a16:creationId xmlns:a16="http://schemas.microsoft.com/office/drawing/2014/main" id="{504F14AD-F804-8A7E-5A2E-2180A5D2C40B}"/>
              </a:ext>
            </a:extLst>
          </p:cNvPr>
          <p:cNvSpPr>
            <a:spLocks/>
          </p:cNvSpPr>
          <p:nvPr/>
        </p:nvSpPr>
        <p:spPr>
          <a:xfrm>
            <a:off x="412845" y="4851548"/>
            <a:ext cx="718172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86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Profiling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0EAE3632-9532-C6D5-E4AF-AF3F3353262D}"/>
              </a:ext>
            </a:extLst>
          </p:cNvPr>
          <p:cNvSpPr>
            <a:spLocks/>
          </p:cNvSpPr>
          <p:nvPr/>
        </p:nvSpPr>
        <p:spPr>
          <a:xfrm>
            <a:off x="412845" y="5291652"/>
            <a:ext cx="7244764" cy="31700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lvl="0">
              <a:spcAft>
                <a:spcPts val="573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The process of measuring the performance of the code to identify which parts of the code are taking the most time to run.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Not every script needs profiling: For example, for a one-off script that runs quickly, profiling will not be necessary. However, for a long-running script that is expected to be run multiple times, profiling can be very useful.</a:t>
            </a:r>
          </a:p>
          <a:p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 lvl="0">
              <a:spcAft>
                <a:spcPts val="573"/>
              </a:spcAft>
              <a:defRPr/>
            </a:pPr>
            <a:endParaRPr lang="en-US" dirty="0">
              <a:solidFill>
                <a:schemeClr val="tx1"/>
              </a:solidFill>
            </a:endParaRPr>
          </a:p>
          <a:p>
            <a:pPr lvl="0">
              <a:spcAft>
                <a:spcPts val="573"/>
              </a:spcAft>
              <a:defRPr/>
            </a:pPr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523" name="Straight Connector 522">
            <a:extLst>
              <a:ext uri="{FF2B5EF4-FFF2-40B4-BE49-F238E27FC236}">
                <a16:creationId xmlns:a16="http://schemas.microsoft.com/office/drawing/2014/main" id="{79F3DD87-BB04-47B6-1489-23109DDE8F03}"/>
              </a:ext>
            </a:extLst>
          </p:cNvPr>
          <p:cNvCxnSpPr>
            <a:cxnSpLocks/>
          </p:cNvCxnSpPr>
          <p:nvPr/>
        </p:nvCxnSpPr>
        <p:spPr>
          <a:xfrm flipV="1">
            <a:off x="412845" y="7569422"/>
            <a:ext cx="718172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4" name="Rectangle 523">
            <a:extLst>
              <a:ext uri="{FF2B5EF4-FFF2-40B4-BE49-F238E27FC236}">
                <a16:creationId xmlns:a16="http://schemas.microsoft.com/office/drawing/2014/main" id="{5E5E9DB8-9843-9D13-192F-FD5459CBD49C}"/>
              </a:ext>
            </a:extLst>
          </p:cNvPr>
          <p:cNvSpPr>
            <a:spLocks/>
          </p:cNvSpPr>
          <p:nvPr/>
        </p:nvSpPr>
        <p:spPr>
          <a:xfrm>
            <a:off x="412845" y="7801457"/>
            <a:ext cx="718172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86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Ty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pes of profiling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0CEAD9-F837-A7DD-3F9D-74C6C48D427D}"/>
              </a:ext>
            </a:extLst>
          </p:cNvPr>
          <p:cNvCxnSpPr>
            <a:cxnSpLocks/>
          </p:cNvCxnSpPr>
          <p:nvPr/>
        </p:nvCxnSpPr>
        <p:spPr>
          <a:xfrm flipV="1">
            <a:off x="8570974" y="1512312"/>
            <a:ext cx="718172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B490BC10-05C8-B62B-343F-9F5ED1C5101D}"/>
              </a:ext>
            </a:extLst>
          </p:cNvPr>
          <p:cNvSpPr>
            <a:spLocks/>
          </p:cNvSpPr>
          <p:nvPr/>
        </p:nvSpPr>
        <p:spPr>
          <a:xfrm>
            <a:off x="8570974" y="1655619"/>
            <a:ext cx="718172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86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Function-level profiling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D92232B-BC7E-CADA-0AD7-304875CD0D7C}"/>
              </a:ext>
            </a:extLst>
          </p:cNvPr>
          <p:cNvSpPr>
            <a:spLocks/>
          </p:cNvSpPr>
          <p:nvPr/>
        </p:nvSpPr>
        <p:spPr>
          <a:xfrm>
            <a:off x="8570973" y="2032076"/>
            <a:ext cx="7181725" cy="1046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Measures the time taken by individual functions in your code., to help identify which functions are taking the most time to execute.</a:t>
            </a:r>
            <a:endParaRPr lang="en-US" sz="1600" dirty="0">
              <a:solidFill>
                <a:schemeClr val="tx1"/>
              </a:solidFill>
            </a:endParaRPr>
          </a:p>
          <a:p>
            <a:br>
              <a:rPr lang="en-US" sz="1600" dirty="0">
                <a:solidFill>
                  <a:schemeClr val="tx1"/>
                </a:solidFill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56706F9-1DAD-FA02-6DD9-F8BD7BAC1B11}"/>
              </a:ext>
            </a:extLst>
          </p:cNvPr>
          <p:cNvCxnSpPr>
            <a:cxnSpLocks/>
          </p:cNvCxnSpPr>
          <p:nvPr/>
        </p:nvCxnSpPr>
        <p:spPr>
          <a:xfrm flipV="1">
            <a:off x="8570974" y="6696114"/>
            <a:ext cx="718172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C3A4AB93-B779-0B72-7060-0B2A28A6EACC}"/>
              </a:ext>
            </a:extLst>
          </p:cNvPr>
          <p:cNvSpPr>
            <a:spLocks/>
          </p:cNvSpPr>
          <p:nvPr/>
        </p:nvSpPr>
        <p:spPr>
          <a:xfrm>
            <a:off x="8570974" y="6839421"/>
            <a:ext cx="718172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86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Line-level profiling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CD787D8A-78F3-1ADA-9CCB-557508DE5A60}"/>
              </a:ext>
            </a:extLst>
          </p:cNvPr>
          <p:cNvSpPr>
            <a:spLocks/>
          </p:cNvSpPr>
          <p:nvPr/>
        </p:nvSpPr>
        <p:spPr>
          <a:xfrm>
            <a:off x="8570974" y="7292423"/>
            <a:ext cx="718172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lvl="0">
              <a:spcAft>
                <a:spcPts val="286"/>
              </a:spcAft>
              <a:defRPr/>
            </a:pPr>
            <a:r>
              <a:rPr lang="en-US" sz="1600" dirty="0">
                <a:solidFill>
                  <a:schemeClr val="tx1"/>
                </a:solidFill>
                <a:latin typeface="Segoe UI Semibold"/>
              </a:rPr>
              <a:t>R</a:t>
            </a:r>
            <a:r>
              <a:rPr lang="en-US" dirty="0">
                <a:solidFill>
                  <a:schemeClr val="tx1"/>
                </a:solidFill>
              </a:rPr>
              <a:t>ecords the time taken to execute individual lines of code.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B756026E-C92D-8561-70BD-D165F21DE344}"/>
              </a:ext>
            </a:extLst>
          </p:cNvPr>
          <p:cNvCxnSpPr>
            <a:cxnSpLocks/>
          </p:cNvCxnSpPr>
          <p:nvPr/>
        </p:nvCxnSpPr>
        <p:spPr>
          <a:xfrm flipV="1">
            <a:off x="16692929" y="1512312"/>
            <a:ext cx="718172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Rectangle 261">
            <a:extLst>
              <a:ext uri="{FF2B5EF4-FFF2-40B4-BE49-F238E27FC236}">
                <a16:creationId xmlns:a16="http://schemas.microsoft.com/office/drawing/2014/main" id="{74C9ACB2-C914-8B24-D691-C097AC374173}"/>
              </a:ext>
            </a:extLst>
          </p:cNvPr>
          <p:cNvSpPr>
            <a:spLocks/>
          </p:cNvSpPr>
          <p:nvPr/>
        </p:nvSpPr>
        <p:spPr>
          <a:xfrm>
            <a:off x="16692929" y="1655619"/>
            <a:ext cx="7181725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86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Optimisation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1D6AB7E6-B6EC-67F4-9CD2-629EBB0BF0E9}"/>
              </a:ext>
            </a:extLst>
          </p:cNvPr>
          <p:cNvSpPr>
            <a:spLocks/>
          </p:cNvSpPr>
          <p:nvPr/>
        </p:nvSpPr>
        <p:spPr>
          <a:xfrm>
            <a:off x="16692929" y="2108621"/>
            <a:ext cx="7181725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lvl="0">
              <a:spcAft>
                <a:spcPts val="286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The process of improving the performance of your code by making changes to it.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9E8B49B-D271-5DD0-15F9-570FFAFEDF03}"/>
              </a:ext>
            </a:extLst>
          </p:cNvPr>
          <p:cNvSpPr txBox="1"/>
          <p:nvPr/>
        </p:nvSpPr>
        <p:spPr>
          <a:xfrm>
            <a:off x="16922721" y="670387"/>
            <a:ext cx="6433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>
                <a:solidFill>
                  <a:prstClr val="black">
                    <a:lumMod val="65000"/>
                    <a:lumOff val="35000"/>
                  </a:prstClr>
                </a:solidFill>
                <a:latin typeface="Segoe UI"/>
              </a:rPr>
              <a:t>Carpentries incubator lesson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: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>
                <a:solidFill>
                  <a:schemeClr val="accent2">
                    <a:lumMod val="50000"/>
                  </a:schemeClr>
                </a:solidFill>
                <a:latin typeface="Segoe UI"/>
              </a:rPr>
              <a:t>https://carpentries-incubator.github.io/pando-python/</a:t>
            </a:r>
            <a:endParaRPr kumimoji="0" lang="en-GB" sz="1800" b="1" i="0" u="none" strike="noStrike" kern="120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F3144B7-D937-A8DC-C120-CBC5ECBB00B1}"/>
              </a:ext>
            </a:extLst>
          </p:cNvPr>
          <p:cNvCxnSpPr>
            <a:cxnSpLocks/>
          </p:cNvCxnSpPr>
          <p:nvPr/>
        </p:nvCxnSpPr>
        <p:spPr>
          <a:xfrm flipV="1">
            <a:off x="16666061" y="5959392"/>
            <a:ext cx="7178040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9F4062DD-F381-4424-476B-8EF6AE6FF1EB}"/>
              </a:ext>
            </a:extLst>
          </p:cNvPr>
          <p:cNvSpPr>
            <a:spLocks/>
          </p:cNvSpPr>
          <p:nvPr/>
        </p:nvSpPr>
        <p:spPr>
          <a:xfrm>
            <a:off x="16666061" y="6261858"/>
            <a:ext cx="7178040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86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Simple tips to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optimise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 Python code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452" name="Straight Connector 451">
            <a:extLst>
              <a:ext uri="{FF2B5EF4-FFF2-40B4-BE49-F238E27FC236}">
                <a16:creationId xmlns:a16="http://schemas.microsoft.com/office/drawing/2014/main" id="{5B9A35DD-BA2D-754E-318A-65A068160B3D}"/>
              </a:ext>
            </a:extLst>
          </p:cNvPr>
          <p:cNvCxnSpPr>
            <a:cxnSpLocks/>
          </p:cNvCxnSpPr>
          <p:nvPr/>
        </p:nvCxnSpPr>
        <p:spPr>
          <a:xfrm>
            <a:off x="449008" y="9255709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3" name="Rectangle 452">
            <a:extLst>
              <a:ext uri="{FF2B5EF4-FFF2-40B4-BE49-F238E27FC236}">
                <a16:creationId xmlns:a16="http://schemas.microsoft.com/office/drawing/2014/main" id="{B8F2A792-8321-37D4-9ABE-0326D25E0BC4}"/>
              </a:ext>
            </a:extLst>
          </p:cNvPr>
          <p:cNvSpPr>
            <a:spLocks/>
          </p:cNvSpPr>
          <p:nvPr/>
        </p:nvSpPr>
        <p:spPr>
          <a:xfrm>
            <a:off x="449008" y="8337913"/>
            <a:ext cx="7181725" cy="764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Manual profiling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  <a:p>
            <a:pPr marL="514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Use the `time` module to measure the time taken by different sections of the code.</a:t>
            </a:r>
          </a:p>
        </p:txBody>
      </p:sp>
      <p:cxnSp>
        <p:nvCxnSpPr>
          <p:cNvPr id="454" name="Straight Connector 453">
            <a:extLst>
              <a:ext uri="{FF2B5EF4-FFF2-40B4-BE49-F238E27FC236}">
                <a16:creationId xmlns:a16="http://schemas.microsoft.com/office/drawing/2014/main" id="{97D176F5-AD5D-0AA1-31F9-359AF1AD62B8}"/>
              </a:ext>
            </a:extLst>
          </p:cNvPr>
          <p:cNvCxnSpPr>
            <a:cxnSpLocks/>
          </p:cNvCxnSpPr>
          <p:nvPr/>
        </p:nvCxnSpPr>
        <p:spPr>
          <a:xfrm>
            <a:off x="449008" y="10326990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5" name="Rectangle 454">
            <a:extLst>
              <a:ext uri="{FF2B5EF4-FFF2-40B4-BE49-F238E27FC236}">
                <a16:creationId xmlns:a16="http://schemas.microsoft.com/office/drawing/2014/main" id="{326405C1-70E0-9174-CFBC-AAE91142016E}"/>
              </a:ext>
            </a:extLst>
          </p:cNvPr>
          <p:cNvSpPr>
            <a:spLocks/>
          </p:cNvSpPr>
          <p:nvPr/>
        </p:nvSpPr>
        <p:spPr>
          <a:xfrm>
            <a:off x="449008" y="9409194"/>
            <a:ext cx="7181725" cy="518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Function-level profiling</a:t>
            </a:r>
          </a:p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Measures time taken by individual functions in the code.</a:t>
            </a: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68F95704-F22C-0EFD-DF02-0582C641C360}"/>
              </a:ext>
            </a:extLst>
          </p:cNvPr>
          <p:cNvCxnSpPr>
            <a:cxnSpLocks/>
          </p:cNvCxnSpPr>
          <p:nvPr/>
        </p:nvCxnSpPr>
        <p:spPr>
          <a:xfrm>
            <a:off x="449008" y="11398271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7" name="Rectangle 456">
            <a:extLst>
              <a:ext uri="{FF2B5EF4-FFF2-40B4-BE49-F238E27FC236}">
                <a16:creationId xmlns:a16="http://schemas.microsoft.com/office/drawing/2014/main" id="{67EA7E76-65AF-1FF4-7F96-F5CF1F6819D1}"/>
              </a:ext>
            </a:extLst>
          </p:cNvPr>
          <p:cNvSpPr>
            <a:spLocks/>
          </p:cNvSpPr>
          <p:nvPr/>
        </p:nvSpPr>
        <p:spPr>
          <a:xfrm>
            <a:off x="449008" y="10480475"/>
            <a:ext cx="7181725" cy="518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Line-level profiling</a:t>
            </a:r>
          </a:p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Measures the time taken by individual lines of code. </a:t>
            </a:r>
          </a:p>
        </p:txBody>
      </p:sp>
      <p:cxnSp>
        <p:nvCxnSpPr>
          <p:cNvPr id="458" name="Straight Connector 457">
            <a:extLst>
              <a:ext uri="{FF2B5EF4-FFF2-40B4-BE49-F238E27FC236}">
                <a16:creationId xmlns:a16="http://schemas.microsoft.com/office/drawing/2014/main" id="{C09FFF26-F18D-E6B1-7EC6-7ACE94A1F3CF}"/>
              </a:ext>
            </a:extLst>
          </p:cNvPr>
          <p:cNvCxnSpPr>
            <a:cxnSpLocks/>
          </p:cNvCxnSpPr>
          <p:nvPr/>
        </p:nvCxnSpPr>
        <p:spPr>
          <a:xfrm>
            <a:off x="449008" y="12469552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Rectangle 458">
            <a:extLst>
              <a:ext uri="{FF2B5EF4-FFF2-40B4-BE49-F238E27FC236}">
                <a16:creationId xmlns:a16="http://schemas.microsoft.com/office/drawing/2014/main" id="{F6A1CFA6-E328-39E5-4B7C-DF2C6FBD43AE}"/>
              </a:ext>
            </a:extLst>
          </p:cNvPr>
          <p:cNvSpPr>
            <a:spLocks/>
          </p:cNvSpPr>
          <p:nvPr/>
        </p:nvSpPr>
        <p:spPr>
          <a:xfrm>
            <a:off x="449008" y="11551756"/>
            <a:ext cx="7181725" cy="518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Timeline profiling</a:t>
            </a:r>
          </a:p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Gives an idea of the execution of the code over time.</a:t>
            </a:r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1FAAAD69-B5A8-0B03-A240-124F30FDC013}"/>
              </a:ext>
            </a:extLst>
          </p:cNvPr>
          <p:cNvSpPr>
            <a:spLocks/>
          </p:cNvSpPr>
          <p:nvPr/>
        </p:nvSpPr>
        <p:spPr>
          <a:xfrm>
            <a:off x="449008" y="12600619"/>
            <a:ext cx="7181725" cy="518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Hardware metric profiling</a:t>
            </a:r>
          </a:p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Measures hardware related metrics.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pic>
        <p:nvPicPr>
          <p:cNvPr id="462" name="Graphic 461" descr="Hourglass 90% outline">
            <a:extLst>
              <a:ext uri="{FF2B5EF4-FFF2-40B4-BE49-F238E27FC236}">
                <a16:creationId xmlns:a16="http://schemas.microsoft.com/office/drawing/2014/main" id="{53CE2A9B-3CE1-8933-09FA-4796BED41B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192" y="11563402"/>
            <a:ext cx="420537" cy="420537"/>
          </a:xfrm>
          <a:prstGeom prst="rect">
            <a:avLst/>
          </a:prstGeom>
        </p:spPr>
      </p:pic>
      <p:pic>
        <p:nvPicPr>
          <p:cNvPr id="463" name="Graphic 462" descr="Clipboard outline">
            <a:extLst>
              <a:ext uri="{FF2B5EF4-FFF2-40B4-BE49-F238E27FC236}">
                <a16:creationId xmlns:a16="http://schemas.microsoft.com/office/drawing/2014/main" id="{EC3A355D-13C1-A496-089A-BAEF4DDF24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485192" y="10492826"/>
            <a:ext cx="420537" cy="420537"/>
          </a:xfrm>
          <a:prstGeom prst="rect">
            <a:avLst/>
          </a:prstGeom>
        </p:spPr>
      </p:pic>
      <p:pic>
        <p:nvPicPr>
          <p:cNvPr id="464" name="Graphic 463" descr="Folder Search outline">
            <a:extLst>
              <a:ext uri="{FF2B5EF4-FFF2-40B4-BE49-F238E27FC236}">
                <a16:creationId xmlns:a16="http://schemas.microsoft.com/office/drawing/2014/main" id="{91329D7E-9180-B6FB-842F-9FFD33FCCA3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85192" y="9446704"/>
            <a:ext cx="420537" cy="420537"/>
          </a:xfrm>
          <a:prstGeom prst="rect">
            <a:avLst/>
          </a:prstGeom>
        </p:spPr>
      </p:pic>
      <p:pic>
        <p:nvPicPr>
          <p:cNvPr id="465" name="Graphic 464" descr="Calculator outline">
            <a:extLst>
              <a:ext uri="{FF2B5EF4-FFF2-40B4-BE49-F238E27FC236}">
                <a16:creationId xmlns:a16="http://schemas.microsoft.com/office/drawing/2014/main" id="{6218A4CA-4333-B0B8-9407-897DFF2318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485192" y="8365822"/>
            <a:ext cx="420537" cy="420537"/>
          </a:xfrm>
          <a:prstGeom prst="rect">
            <a:avLst/>
          </a:prstGeom>
        </p:spPr>
      </p:pic>
      <p:pic>
        <p:nvPicPr>
          <p:cNvPr id="466" name="Graphic 465" descr="Computer outline">
            <a:extLst>
              <a:ext uri="{FF2B5EF4-FFF2-40B4-BE49-F238E27FC236}">
                <a16:creationId xmlns:a16="http://schemas.microsoft.com/office/drawing/2014/main" id="{7EDD6599-4417-4878-5708-BD4C0894B34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85193" y="12534824"/>
            <a:ext cx="420536" cy="420536"/>
          </a:xfrm>
          <a:prstGeom prst="rect">
            <a:avLst/>
          </a:prstGeom>
        </p:spPr>
      </p:pic>
      <p:sp>
        <p:nvSpPr>
          <p:cNvPr id="478" name="Rectangle 477">
            <a:extLst>
              <a:ext uri="{FF2B5EF4-FFF2-40B4-BE49-F238E27FC236}">
                <a16:creationId xmlns:a16="http://schemas.microsoft.com/office/drawing/2014/main" id="{64D1B01D-C257-260E-5CE4-EED57C67C291}"/>
              </a:ext>
            </a:extLst>
          </p:cNvPr>
          <p:cNvSpPr>
            <a:spLocks/>
          </p:cNvSpPr>
          <p:nvPr/>
        </p:nvSpPr>
        <p:spPr>
          <a:xfrm>
            <a:off x="8505141" y="2884017"/>
            <a:ext cx="7181725" cy="764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cProfile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Commonly used tool for function-level profiling. It is a part of the Python standard library.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858133D1-53AD-F591-39A1-BAF3E9AB1BAB}"/>
              </a:ext>
            </a:extLst>
          </p:cNvPr>
          <p:cNvCxnSpPr>
            <a:cxnSpLocks/>
          </p:cNvCxnSpPr>
          <p:nvPr/>
        </p:nvCxnSpPr>
        <p:spPr>
          <a:xfrm>
            <a:off x="8505141" y="3819490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0" name="Rectangle 479">
            <a:extLst>
              <a:ext uri="{FF2B5EF4-FFF2-40B4-BE49-F238E27FC236}">
                <a16:creationId xmlns:a16="http://schemas.microsoft.com/office/drawing/2014/main" id="{28E6EFC2-FC25-FE9F-D9DA-29FF5F138BBB}"/>
              </a:ext>
            </a:extLst>
          </p:cNvPr>
          <p:cNvSpPr>
            <a:spLocks/>
          </p:cNvSpPr>
          <p:nvPr/>
        </p:nvSpPr>
        <p:spPr>
          <a:xfrm>
            <a:off x="8505141" y="3946183"/>
            <a:ext cx="7181725" cy="518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50000"/>
                  </a:schemeClr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Run</a:t>
            </a:r>
          </a:p>
          <a:p>
            <a:pPr marL="514350" lvl="0">
              <a:spcAft>
                <a:spcPts val="200"/>
              </a:spcAft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481" name="Straight Connector 480">
            <a:extLst>
              <a:ext uri="{FF2B5EF4-FFF2-40B4-BE49-F238E27FC236}">
                <a16:creationId xmlns:a16="http://schemas.microsoft.com/office/drawing/2014/main" id="{FD9D08E9-27CD-7C58-45D7-D2C362EBCFE0}"/>
              </a:ext>
            </a:extLst>
          </p:cNvPr>
          <p:cNvCxnSpPr>
            <a:cxnSpLocks/>
          </p:cNvCxnSpPr>
          <p:nvPr/>
        </p:nvCxnSpPr>
        <p:spPr>
          <a:xfrm>
            <a:off x="8526944" y="4731036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2" name="Rectangle 481">
            <a:extLst>
              <a:ext uri="{FF2B5EF4-FFF2-40B4-BE49-F238E27FC236}">
                <a16:creationId xmlns:a16="http://schemas.microsoft.com/office/drawing/2014/main" id="{DE93EE68-D54C-A681-6222-D87B91A2625C}"/>
              </a:ext>
            </a:extLst>
          </p:cNvPr>
          <p:cNvSpPr/>
          <p:nvPr/>
        </p:nvSpPr>
        <p:spPr>
          <a:xfrm>
            <a:off x="9018376" y="4219537"/>
            <a:ext cx="6690293" cy="4247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73152" rIns="73152" bIns="73152" rtlCol="0" anchor="ctr">
            <a:spAutoFit/>
          </a:bodyPr>
          <a:lstStyle/>
          <a:p>
            <a:pPr lvl="0">
              <a:spcAft>
                <a:spcPts val="286"/>
              </a:spcAft>
              <a:defRPr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cProfile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my_script.py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CB141361-0588-7C7B-AAAC-4DE89E11EDBA}"/>
              </a:ext>
            </a:extLst>
          </p:cNvPr>
          <p:cNvSpPr>
            <a:spLocks/>
          </p:cNvSpPr>
          <p:nvPr/>
        </p:nvSpPr>
        <p:spPr>
          <a:xfrm>
            <a:off x="8526944" y="4764716"/>
            <a:ext cx="7181725" cy="518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Store output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  <a:p>
            <a:pPr marL="514350" lvl="0">
              <a:spcAft>
                <a:spcPts val="200"/>
              </a:spcAft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484" name="Straight Connector 483">
            <a:extLst>
              <a:ext uri="{FF2B5EF4-FFF2-40B4-BE49-F238E27FC236}">
                <a16:creationId xmlns:a16="http://schemas.microsoft.com/office/drawing/2014/main" id="{E11F8168-9893-AE12-9337-5C12556171E7}"/>
              </a:ext>
            </a:extLst>
          </p:cNvPr>
          <p:cNvCxnSpPr>
            <a:cxnSpLocks/>
          </p:cNvCxnSpPr>
          <p:nvPr/>
        </p:nvCxnSpPr>
        <p:spPr>
          <a:xfrm>
            <a:off x="8548747" y="5549569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5" name="Rectangle 484">
            <a:extLst>
              <a:ext uri="{FF2B5EF4-FFF2-40B4-BE49-F238E27FC236}">
                <a16:creationId xmlns:a16="http://schemas.microsoft.com/office/drawing/2014/main" id="{6DC73894-933D-8A54-A0D4-228BD5BFD793}"/>
              </a:ext>
            </a:extLst>
          </p:cNvPr>
          <p:cNvSpPr/>
          <p:nvPr/>
        </p:nvSpPr>
        <p:spPr>
          <a:xfrm>
            <a:off x="9040179" y="5038070"/>
            <a:ext cx="6690293" cy="4247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73152" rIns="73152" bIns="73152" rtlCol="0" anchor="ctr">
            <a:spAutoFit/>
          </a:bodyPr>
          <a:lstStyle/>
          <a:p>
            <a:pPr lvl="0">
              <a:spcAft>
                <a:spcPts val="286"/>
              </a:spcAft>
              <a:defRPr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cProfile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–o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output.prof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my_script.py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421A80A3-E764-99F5-122E-17D7D1F8F845}"/>
              </a:ext>
            </a:extLst>
          </p:cNvPr>
          <p:cNvSpPr>
            <a:spLocks/>
          </p:cNvSpPr>
          <p:nvPr/>
        </p:nvSpPr>
        <p:spPr>
          <a:xfrm>
            <a:off x="8548747" y="5556161"/>
            <a:ext cx="7181725" cy="518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Visualise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 output using </a:t>
            </a:r>
            <a:r>
              <a:rPr lang="en-US" sz="1600" b="1" dirty="0" err="1">
                <a:solidFill>
                  <a:schemeClr val="accent2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snakeviz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14350" lvl="0">
              <a:spcAft>
                <a:spcPts val="200"/>
              </a:spcAft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7BC12259-268C-D1AE-53F2-BC1702B3E882}"/>
              </a:ext>
            </a:extLst>
          </p:cNvPr>
          <p:cNvSpPr/>
          <p:nvPr/>
        </p:nvSpPr>
        <p:spPr>
          <a:xfrm>
            <a:off x="9061982" y="5829515"/>
            <a:ext cx="6690293" cy="4247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73152" rIns="73152" bIns="73152" rtlCol="0" anchor="ctr">
            <a:spAutoFit/>
          </a:bodyPr>
          <a:lstStyle/>
          <a:p>
            <a:pPr lvl="0">
              <a:spcAft>
                <a:spcPts val="286"/>
              </a:spcAft>
              <a:defRPr/>
            </a:pP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snakeviz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output.prof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90" name="Graphic 489" descr="Wrench outline">
            <a:extLst>
              <a:ext uri="{FF2B5EF4-FFF2-40B4-BE49-F238E27FC236}">
                <a16:creationId xmlns:a16="http://schemas.microsoft.com/office/drawing/2014/main" id="{9366EE60-760F-1C80-1902-AA786FBD8F1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439310" y="2953202"/>
            <a:ext cx="405308" cy="405308"/>
          </a:xfrm>
          <a:prstGeom prst="rect">
            <a:avLst/>
          </a:prstGeom>
        </p:spPr>
      </p:pic>
      <p:pic>
        <p:nvPicPr>
          <p:cNvPr id="491" name="Graphic 490" descr="Gears outline">
            <a:extLst>
              <a:ext uri="{FF2B5EF4-FFF2-40B4-BE49-F238E27FC236}">
                <a16:creationId xmlns:a16="http://schemas.microsoft.com/office/drawing/2014/main" id="{A6021B9D-5DA4-F2C7-79A5-A8F6ADD0312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8439310" y="3991121"/>
            <a:ext cx="405308" cy="405308"/>
          </a:xfrm>
          <a:prstGeom prst="rect">
            <a:avLst/>
          </a:prstGeom>
        </p:spPr>
      </p:pic>
      <p:pic>
        <p:nvPicPr>
          <p:cNvPr id="493" name="Graphic 492" descr="Document outline">
            <a:extLst>
              <a:ext uri="{FF2B5EF4-FFF2-40B4-BE49-F238E27FC236}">
                <a16:creationId xmlns:a16="http://schemas.microsoft.com/office/drawing/2014/main" id="{656C6E89-621F-2B6B-8B75-59852A223E8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8439310" y="4870440"/>
            <a:ext cx="405308" cy="405308"/>
          </a:xfrm>
          <a:prstGeom prst="rect">
            <a:avLst/>
          </a:prstGeom>
        </p:spPr>
      </p:pic>
      <p:pic>
        <p:nvPicPr>
          <p:cNvPr id="494" name="Graphic 493" descr="Hierarchy outline">
            <a:extLst>
              <a:ext uri="{FF2B5EF4-FFF2-40B4-BE49-F238E27FC236}">
                <a16:creationId xmlns:a16="http://schemas.microsoft.com/office/drawing/2014/main" id="{BD73AA95-05E4-D849-C8DE-8B7F8AEC172C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8439310" y="5645841"/>
            <a:ext cx="405308" cy="405308"/>
          </a:xfrm>
          <a:prstGeom prst="rect">
            <a:avLst/>
          </a:prstGeom>
        </p:spPr>
      </p:pic>
      <p:sp>
        <p:nvSpPr>
          <p:cNvPr id="495" name="Rectangle 494">
            <a:extLst>
              <a:ext uri="{FF2B5EF4-FFF2-40B4-BE49-F238E27FC236}">
                <a16:creationId xmlns:a16="http://schemas.microsoft.com/office/drawing/2014/main" id="{4E07AEF3-BDB4-2FBD-286B-E7EBA66A5676}"/>
              </a:ext>
            </a:extLst>
          </p:cNvPr>
          <p:cNvSpPr>
            <a:spLocks/>
          </p:cNvSpPr>
          <p:nvPr/>
        </p:nvSpPr>
        <p:spPr>
          <a:xfrm>
            <a:off x="8587668" y="7699363"/>
            <a:ext cx="7181725" cy="764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 err="1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line_profiler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  <a:p>
            <a:pPr marL="514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Segoe UI"/>
              </a:rPr>
              <a:t>Commonly used tool for line-level profiling. It is not a part of the Python standard library and needs to be installed using: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498" name="Straight Connector 497">
            <a:extLst>
              <a:ext uri="{FF2B5EF4-FFF2-40B4-BE49-F238E27FC236}">
                <a16:creationId xmlns:a16="http://schemas.microsoft.com/office/drawing/2014/main" id="{85337664-65D7-9046-D489-4E3081FDE04B}"/>
              </a:ext>
            </a:extLst>
          </p:cNvPr>
          <p:cNvCxnSpPr>
            <a:cxnSpLocks/>
          </p:cNvCxnSpPr>
          <p:nvPr/>
        </p:nvCxnSpPr>
        <p:spPr>
          <a:xfrm>
            <a:off x="8587669" y="9043574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9" name="Rectangle 498">
            <a:extLst>
              <a:ext uri="{FF2B5EF4-FFF2-40B4-BE49-F238E27FC236}">
                <a16:creationId xmlns:a16="http://schemas.microsoft.com/office/drawing/2014/main" id="{5F36910A-119E-15F9-DFB6-2BEEDBF176BC}"/>
              </a:ext>
            </a:extLst>
          </p:cNvPr>
          <p:cNvSpPr/>
          <p:nvPr/>
        </p:nvSpPr>
        <p:spPr>
          <a:xfrm>
            <a:off x="9102135" y="9403801"/>
            <a:ext cx="6667256" cy="11172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73152" rIns="73152" bIns="73152" rtlCol="0" anchor="ctr">
            <a:spAutoFit/>
          </a:bodyPr>
          <a:lstStyle/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line_profiler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import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LineProfiler</a:t>
            </a:r>
            <a:endParaRPr lang="en-US" sz="105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@profile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...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return</a:t>
            </a:r>
          </a:p>
          <a:p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print(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my_function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05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arg_value</a:t>
            </a:r>
            <a:r>
              <a:rPr lang="en-US" sz="105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38F5045B-C333-F9B8-9D64-764CB654E2A4}"/>
              </a:ext>
            </a:extLst>
          </p:cNvPr>
          <p:cNvSpPr/>
          <p:nvPr/>
        </p:nvSpPr>
        <p:spPr>
          <a:xfrm>
            <a:off x="9079101" y="8515397"/>
            <a:ext cx="6690293" cy="4247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73152" rIns="73152" bIns="73152" rtlCol="0" anchor="ctr">
            <a:spAutoFit/>
          </a:bodyPr>
          <a:lstStyle/>
          <a:p>
            <a:pPr lvl="0">
              <a:spcAft>
                <a:spcPts val="286"/>
              </a:spcAft>
              <a:defRPr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pip install “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line_profiler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[all]”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3CBB6A4C-D503-D85F-0E60-C80AB25643E7}"/>
              </a:ext>
            </a:extLst>
          </p:cNvPr>
          <p:cNvSpPr>
            <a:spLocks/>
          </p:cNvSpPr>
          <p:nvPr/>
        </p:nvSpPr>
        <p:spPr>
          <a:xfrm>
            <a:off x="8587667" y="9118626"/>
            <a:ext cx="7181725" cy="5180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Decorate functions to be profiled</a:t>
            </a:r>
          </a:p>
          <a:p>
            <a:pPr marL="514350" lvl="0">
              <a:spcAft>
                <a:spcPts val="200"/>
              </a:spcAft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503" name="Straight Connector 502">
            <a:extLst>
              <a:ext uri="{FF2B5EF4-FFF2-40B4-BE49-F238E27FC236}">
                <a16:creationId xmlns:a16="http://schemas.microsoft.com/office/drawing/2014/main" id="{1CB435A5-CC6E-DF28-CB86-88F8A07B8CE0}"/>
              </a:ext>
            </a:extLst>
          </p:cNvPr>
          <p:cNvCxnSpPr>
            <a:cxnSpLocks/>
          </p:cNvCxnSpPr>
          <p:nvPr/>
        </p:nvCxnSpPr>
        <p:spPr>
          <a:xfrm>
            <a:off x="8617318" y="10572063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" name="Rectangle 505">
            <a:extLst>
              <a:ext uri="{FF2B5EF4-FFF2-40B4-BE49-F238E27FC236}">
                <a16:creationId xmlns:a16="http://schemas.microsoft.com/office/drawing/2014/main" id="{1CB99CD0-D45F-6B26-E739-6A16D205983C}"/>
              </a:ext>
            </a:extLst>
          </p:cNvPr>
          <p:cNvSpPr>
            <a:spLocks/>
          </p:cNvSpPr>
          <p:nvPr/>
        </p:nvSpPr>
        <p:spPr>
          <a:xfrm>
            <a:off x="8617318" y="10606777"/>
            <a:ext cx="7181725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Run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507" name="Straight Connector 506">
            <a:extLst>
              <a:ext uri="{FF2B5EF4-FFF2-40B4-BE49-F238E27FC236}">
                <a16:creationId xmlns:a16="http://schemas.microsoft.com/office/drawing/2014/main" id="{046E8F96-6AE2-DA1B-6041-F96FEDC71AE2}"/>
              </a:ext>
            </a:extLst>
          </p:cNvPr>
          <p:cNvCxnSpPr>
            <a:cxnSpLocks/>
          </p:cNvCxnSpPr>
          <p:nvPr/>
        </p:nvCxnSpPr>
        <p:spPr>
          <a:xfrm>
            <a:off x="8617318" y="11430660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9" name="Rectangle 508">
            <a:extLst>
              <a:ext uri="{FF2B5EF4-FFF2-40B4-BE49-F238E27FC236}">
                <a16:creationId xmlns:a16="http://schemas.microsoft.com/office/drawing/2014/main" id="{6B5BA2DB-7EC8-0239-14A7-F1E285066CF3}"/>
              </a:ext>
            </a:extLst>
          </p:cNvPr>
          <p:cNvSpPr/>
          <p:nvPr/>
        </p:nvSpPr>
        <p:spPr>
          <a:xfrm>
            <a:off x="9108751" y="10930581"/>
            <a:ext cx="6690293" cy="4247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73152" rIns="73152" bIns="73152" rtlCol="0" anchor="ctr">
            <a:spAutoFit/>
          </a:bodyPr>
          <a:lstStyle/>
          <a:p>
            <a:pPr lvl="0">
              <a:spcAft>
                <a:spcPts val="286"/>
              </a:spcAft>
              <a:defRPr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kernprof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-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lvr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my_script.py</a:t>
            </a:r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D1AE625A-F403-2763-5011-FDA94B28A7D5}"/>
              </a:ext>
            </a:extLst>
          </p:cNvPr>
          <p:cNvSpPr>
            <a:spLocks/>
          </p:cNvSpPr>
          <p:nvPr/>
        </p:nvSpPr>
        <p:spPr>
          <a:xfrm>
            <a:off x="8587666" y="11503292"/>
            <a:ext cx="7181725" cy="764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Segoe UI Semibold"/>
              </a:rPr>
              <a:t>Output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50000"/>
                </a:schemeClr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Outputs to a file (</a:t>
            </a:r>
            <a:r>
              <a:rPr lang="en-US" sz="1600" dirty="0" err="1">
                <a:solidFill>
                  <a:prstClr val="black"/>
                </a:solidFill>
              </a:rPr>
              <a:t>my_script.py.lprof</a:t>
            </a:r>
            <a:r>
              <a:rPr lang="en-US" sz="1600" dirty="0">
                <a:solidFill>
                  <a:prstClr val="black"/>
                </a:solidFill>
              </a:rPr>
              <a:t>). This file is not human-readable. To print it to console:</a:t>
            </a:r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A768B3E0-2DA2-876C-B2FD-D8DE75A3B643}"/>
              </a:ext>
            </a:extLst>
          </p:cNvPr>
          <p:cNvSpPr/>
          <p:nvPr/>
        </p:nvSpPr>
        <p:spPr>
          <a:xfrm>
            <a:off x="9108751" y="12318621"/>
            <a:ext cx="6690293" cy="4247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73152" rIns="73152" bIns="73152" rtlCol="0" anchor="ctr">
            <a:spAutoFit/>
          </a:bodyPr>
          <a:lstStyle/>
          <a:p>
            <a:pPr lvl="0">
              <a:spcAft>
                <a:spcPts val="286"/>
              </a:spcAft>
              <a:defRPr/>
            </a:pP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line_profiler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–rm </a:t>
            </a:r>
            <a:r>
              <a:rPr 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my_script.py.lprof</a:t>
            </a:r>
            <a:endParaRPr lang="en-US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15" name="Graphic 514" descr="Table outline">
            <a:extLst>
              <a:ext uri="{FF2B5EF4-FFF2-40B4-BE49-F238E27FC236}">
                <a16:creationId xmlns:a16="http://schemas.microsoft.com/office/drawing/2014/main" id="{F71D1C20-0B9F-50EB-6D3C-1F6B916888D5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05141" y="7652870"/>
            <a:ext cx="501091" cy="501091"/>
          </a:xfrm>
          <a:prstGeom prst="rect">
            <a:avLst/>
          </a:prstGeom>
        </p:spPr>
      </p:pic>
      <p:pic>
        <p:nvPicPr>
          <p:cNvPr id="516" name="Graphic 515" descr="Database outline">
            <a:extLst>
              <a:ext uri="{FF2B5EF4-FFF2-40B4-BE49-F238E27FC236}">
                <a16:creationId xmlns:a16="http://schemas.microsoft.com/office/drawing/2014/main" id="{3A0612F4-3D5E-DBAC-5959-4401A38FEBE6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8505140" y="9134621"/>
            <a:ext cx="501091" cy="501091"/>
          </a:xfrm>
          <a:prstGeom prst="rect">
            <a:avLst/>
          </a:prstGeom>
        </p:spPr>
      </p:pic>
      <p:pic>
        <p:nvPicPr>
          <p:cNvPr id="518" name="Graphic 517" descr="Gears outline">
            <a:extLst>
              <a:ext uri="{FF2B5EF4-FFF2-40B4-BE49-F238E27FC236}">
                <a16:creationId xmlns:a16="http://schemas.microsoft.com/office/drawing/2014/main" id="{5B3F7E55-7C5A-1842-0838-51E7FDE8685B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8587666" y="10662024"/>
            <a:ext cx="405308" cy="405308"/>
          </a:xfrm>
          <a:prstGeom prst="rect">
            <a:avLst/>
          </a:prstGeom>
        </p:spPr>
      </p:pic>
      <p:pic>
        <p:nvPicPr>
          <p:cNvPr id="519" name="Graphic 518" descr="Document outline">
            <a:extLst>
              <a:ext uri="{FF2B5EF4-FFF2-40B4-BE49-F238E27FC236}">
                <a16:creationId xmlns:a16="http://schemas.microsoft.com/office/drawing/2014/main" id="{0F20F67F-2FD0-0011-CF8D-C1D7DDD208D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8570973" y="11541446"/>
            <a:ext cx="405308" cy="405308"/>
          </a:xfrm>
          <a:prstGeom prst="rect">
            <a:avLst/>
          </a:prstGeom>
        </p:spPr>
      </p:pic>
      <p:cxnSp>
        <p:nvCxnSpPr>
          <p:cNvPr id="520" name="Straight Connector 519">
            <a:extLst>
              <a:ext uri="{FF2B5EF4-FFF2-40B4-BE49-F238E27FC236}">
                <a16:creationId xmlns:a16="http://schemas.microsoft.com/office/drawing/2014/main" id="{6E52A7B8-2613-CD83-6D3F-FD5EF545983F}"/>
              </a:ext>
            </a:extLst>
          </p:cNvPr>
          <p:cNvCxnSpPr>
            <a:cxnSpLocks/>
          </p:cNvCxnSpPr>
          <p:nvPr/>
        </p:nvCxnSpPr>
        <p:spPr>
          <a:xfrm>
            <a:off x="16729101" y="2804579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Rectangle 521">
            <a:extLst>
              <a:ext uri="{FF2B5EF4-FFF2-40B4-BE49-F238E27FC236}">
                <a16:creationId xmlns:a16="http://schemas.microsoft.com/office/drawing/2014/main" id="{EE8F9EBC-A0C1-FA6B-D72C-2A8B183EBF13}"/>
              </a:ext>
            </a:extLst>
          </p:cNvPr>
          <p:cNvSpPr>
            <a:spLocks/>
          </p:cNvSpPr>
          <p:nvPr/>
        </p:nvSpPr>
        <p:spPr>
          <a:xfrm>
            <a:off x="16729101" y="2927993"/>
            <a:ext cx="718172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Potential risks associated with </a:t>
            </a:r>
            <a:r>
              <a:rPr lang="en-US" dirty="0" err="1">
                <a:solidFill>
                  <a:schemeClr val="tx1"/>
                </a:solidFill>
              </a:rPr>
              <a:t>optimising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526" name="Straight Connector 525">
            <a:extLst>
              <a:ext uri="{FF2B5EF4-FFF2-40B4-BE49-F238E27FC236}">
                <a16:creationId xmlns:a16="http://schemas.microsoft.com/office/drawing/2014/main" id="{A76F18F4-D6CA-526E-677A-CFA866D598CF}"/>
              </a:ext>
            </a:extLst>
          </p:cNvPr>
          <p:cNvCxnSpPr>
            <a:cxnSpLocks/>
          </p:cNvCxnSpPr>
          <p:nvPr/>
        </p:nvCxnSpPr>
        <p:spPr>
          <a:xfrm>
            <a:off x="16729101" y="3289580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7" name="Rectangle 526">
            <a:extLst>
              <a:ext uri="{FF2B5EF4-FFF2-40B4-BE49-F238E27FC236}">
                <a16:creationId xmlns:a16="http://schemas.microsoft.com/office/drawing/2014/main" id="{B8A57454-56DC-5819-02C4-62CC6EA628C5}"/>
              </a:ext>
            </a:extLst>
          </p:cNvPr>
          <p:cNvSpPr>
            <a:spLocks/>
          </p:cNvSpPr>
          <p:nvPr/>
        </p:nvSpPr>
        <p:spPr>
          <a:xfrm>
            <a:off x="16729101" y="3412994"/>
            <a:ext cx="7181725" cy="5539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Performing </a:t>
            </a:r>
            <a:r>
              <a:rPr lang="en-US" dirty="0" err="1">
                <a:solidFill>
                  <a:schemeClr val="tx1"/>
                </a:solidFill>
              </a:rPr>
              <a:t>optimisations</a:t>
            </a:r>
            <a:r>
              <a:rPr lang="en-US" dirty="0">
                <a:solidFill>
                  <a:schemeClr val="tx1"/>
                </a:solidFill>
              </a:rPr>
              <a:t> in a way that make code harder to understand.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528" name="Straight Connector 527">
            <a:extLst>
              <a:ext uri="{FF2B5EF4-FFF2-40B4-BE49-F238E27FC236}">
                <a16:creationId xmlns:a16="http://schemas.microsoft.com/office/drawing/2014/main" id="{EB094FD8-CA29-1E84-5704-6C0670CDEE4F}"/>
              </a:ext>
            </a:extLst>
          </p:cNvPr>
          <p:cNvCxnSpPr>
            <a:cxnSpLocks/>
          </p:cNvCxnSpPr>
          <p:nvPr/>
        </p:nvCxnSpPr>
        <p:spPr>
          <a:xfrm>
            <a:off x="16729101" y="3967209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9" name="Rectangle 528">
            <a:extLst>
              <a:ext uri="{FF2B5EF4-FFF2-40B4-BE49-F238E27FC236}">
                <a16:creationId xmlns:a16="http://schemas.microsoft.com/office/drawing/2014/main" id="{D0C8A9EE-1349-0D89-D503-E0CF119C5E87}"/>
              </a:ext>
            </a:extLst>
          </p:cNvPr>
          <p:cNvSpPr>
            <a:spLocks/>
          </p:cNvSpPr>
          <p:nvPr/>
        </p:nvSpPr>
        <p:spPr>
          <a:xfrm>
            <a:off x="16729101" y="4090623"/>
            <a:ext cx="7181725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Changing the code with a potential to introduce new bugs.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94D0CB52-EEF3-4319-0586-0706CD91E722}"/>
              </a:ext>
            </a:extLst>
          </p:cNvPr>
          <p:cNvCxnSpPr>
            <a:cxnSpLocks/>
          </p:cNvCxnSpPr>
          <p:nvPr/>
        </p:nvCxnSpPr>
        <p:spPr>
          <a:xfrm>
            <a:off x="16729101" y="4521207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1" name="Rectangle 530">
            <a:extLst>
              <a:ext uri="{FF2B5EF4-FFF2-40B4-BE49-F238E27FC236}">
                <a16:creationId xmlns:a16="http://schemas.microsoft.com/office/drawing/2014/main" id="{E4A52936-ECF4-3654-07E4-3DC6F1357574}"/>
              </a:ext>
            </a:extLst>
          </p:cNvPr>
          <p:cNvSpPr>
            <a:spLocks/>
          </p:cNvSpPr>
          <p:nvPr/>
        </p:nvSpPr>
        <p:spPr>
          <a:xfrm>
            <a:off x="16729101" y="4644621"/>
            <a:ext cx="7181725" cy="83099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dirty="0">
                <a:solidFill>
                  <a:schemeClr val="tx1"/>
                </a:solidFill>
              </a:rPr>
              <a:t>Trying to </a:t>
            </a:r>
            <a:r>
              <a:rPr lang="en-US" dirty="0" err="1">
                <a:solidFill>
                  <a:schemeClr val="tx1"/>
                </a:solidFill>
              </a:rPr>
              <a:t>optimise</a:t>
            </a:r>
            <a:r>
              <a:rPr lang="en-US" dirty="0">
                <a:solidFill>
                  <a:schemeClr val="tx1"/>
                </a:solidFill>
              </a:rPr>
              <a:t> code that only takes up a minuscule fraction of the total runtime, you might end up spending more time on the </a:t>
            </a:r>
            <a:r>
              <a:rPr lang="en-US" dirty="0" err="1">
                <a:solidFill>
                  <a:schemeClr val="tx1"/>
                </a:solidFill>
              </a:rPr>
              <a:t>optimisation</a:t>
            </a:r>
            <a:r>
              <a:rPr lang="en-US" dirty="0">
                <a:solidFill>
                  <a:schemeClr val="tx1"/>
                </a:solidFill>
              </a:rPr>
              <a:t> than you actually gain from it.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pic>
        <p:nvPicPr>
          <p:cNvPr id="533" name="Graphic 532" descr="Radioactive outline">
            <a:extLst>
              <a:ext uri="{FF2B5EF4-FFF2-40B4-BE49-F238E27FC236}">
                <a16:creationId xmlns:a16="http://schemas.microsoft.com/office/drawing/2014/main" id="{94F77BDF-9BB2-AF40-9650-32A5C473861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6692928" y="2823131"/>
            <a:ext cx="459586" cy="459586"/>
          </a:xfrm>
          <a:prstGeom prst="rect">
            <a:avLst/>
          </a:prstGeom>
        </p:spPr>
      </p:pic>
      <p:pic>
        <p:nvPicPr>
          <p:cNvPr id="534" name="Graphic 533" descr="Maze outline">
            <a:extLst>
              <a:ext uri="{FF2B5EF4-FFF2-40B4-BE49-F238E27FC236}">
                <a16:creationId xmlns:a16="http://schemas.microsoft.com/office/drawing/2014/main" id="{3A404F14-5906-F507-CEA4-C93966F005EF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16692928" y="3411029"/>
            <a:ext cx="459586" cy="459586"/>
          </a:xfrm>
          <a:prstGeom prst="rect">
            <a:avLst/>
          </a:prstGeom>
        </p:spPr>
      </p:pic>
      <p:pic>
        <p:nvPicPr>
          <p:cNvPr id="535" name="Graphic 534" descr="Bug outline">
            <a:extLst>
              <a:ext uri="{FF2B5EF4-FFF2-40B4-BE49-F238E27FC236}">
                <a16:creationId xmlns:a16="http://schemas.microsoft.com/office/drawing/2014/main" id="{D32B474A-233A-B3F1-1810-DDADBDAC56F8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16692928" y="3963052"/>
            <a:ext cx="459586" cy="459586"/>
          </a:xfrm>
          <a:prstGeom prst="rect">
            <a:avLst/>
          </a:prstGeom>
        </p:spPr>
      </p:pic>
      <p:pic>
        <p:nvPicPr>
          <p:cNvPr id="536" name="Graphic 535" descr="Hourglass Finished outline">
            <a:extLst>
              <a:ext uri="{FF2B5EF4-FFF2-40B4-BE49-F238E27FC236}">
                <a16:creationId xmlns:a16="http://schemas.microsoft.com/office/drawing/2014/main" id="{EF16505E-CAE2-D5F5-33D9-198D01B4B39A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16692928" y="4641079"/>
            <a:ext cx="459586" cy="459586"/>
          </a:xfrm>
          <a:prstGeom prst="rect">
            <a:avLst/>
          </a:prstGeom>
        </p:spPr>
      </p:pic>
      <p:sp>
        <p:nvSpPr>
          <p:cNvPr id="537" name="Rectangle 536">
            <a:extLst>
              <a:ext uri="{FF2B5EF4-FFF2-40B4-BE49-F238E27FC236}">
                <a16:creationId xmlns:a16="http://schemas.microsoft.com/office/drawing/2014/main" id="{B3A6611D-0791-AFBF-BE3D-D998CD205753}"/>
              </a:ext>
            </a:extLst>
          </p:cNvPr>
          <p:cNvSpPr>
            <a:spLocks/>
          </p:cNvSpPr>
          <p:nvPr/>
        </p:nvSpPr>
        <p:spPr>
          <a:xfrm>
            <a:off x="16797898" y="7006540"/>
            <a:ext cx="6763851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fontAlgn="base">
              <a:spcAft>
                <a:spcPts val="20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Use built-in functions and the standard library - don’t reinvent the wheel!</a:t>
            </a:r>
          </a:p>
        </p:txBody>
      </p:sp>
      <p:cxnSp>
        <p:nvCxnSpPr>
          <p:cNvPr id="538" name="Straight Connector 537">
            <a:extLst>
              <a:ext uri="{FF2B5EF4-FFF2-40B4-BE49-F238E27FC236}">
                <a16:creationId xmlns:a16="http://schemas.microsoft.com/office/drawing/2014/main" id="{AFB4AFC5-FD54-BC6F-1D76-76A1FE4576A7}"/>
              </a:ext>
            </a:extLst>
          </p:cNvPr>
          <p:cNvCxnSpPr>
            <a:cxnSpLocks/>
          </p:cNvCxnSpPr>
          <p:nvPr/>
        </p:nvCxnSpPr>
        <p:spPr>
          <a:xfrm>
            <a:off x="16581153" y="7569422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Rectangle 538">
            <a:extLst>
              <a:ext uri="{FF2B5EF4-FFF2-40B4-BE49-F238E27FC236}">
                <a16:creationId xmlns:a16="http://schemas.microsoft.com/office/drawing/2014/main" id="{7783F93C-2674-5402-82AE-B68C9308F1B7}"/>
              </a:ext>
            </a:extLst>
          </p:cNvPr>
          <p:cNvSpPr>
            <a:spLocks/>
          </p:cNvSpPr>
          <p:nvPr/>
        </p:nvSpPr>
        <p:spPr>
          <a:xfrm>
            <a:off x="16797898" y="7676629"/>
            <a:ext cx="717804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>
              <a:spcAft>
                <a:spcPts val="20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Use list comprehension when creating lists</a:t>
            </a:r>
          </a:p>
        </p:txBody>
      </p:sp>
      <p:cxnSp>
        <p:nvCxnSpPr>
          <p:cNvPr id="540" name="Straight Connector 539">
            <a:extLst>
              <a:ext uri="{FF2B5EF4-FFF2-40B4-BE49-F238E27FC236}">
                <a16:creationId xmlns:a16="http://schemas.microsoft.com/office/drawing/2014/main" id="{6846B2D4-3AD8-EC91-25F5-34BD71B00643}"/>
              </a:ext>
            </a:extLst>
          </p:cNvPr>
          <p:cNvCxnSpPr>
            <a:cxnSpLocks/>
          </p:cNvCxnSpPr>
          <p:nvPr/>
        </p:nvCxnSpPr>
        <p:spPr>
          <a:xfrm>
            <a:off x="16581153" y="8081519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Rectangle 540">
            <a:extLst>
              <a:ext uri="{FF2B5EF4-FFF2-40B4-BE49-F238E27FC236}">
                <a16:creationId xmlns:a16="http://schemas.microsoft.com/office/drawing/2014/main" id="{039AA50A-CB9F-DD46-606F-B9FECB73BBDE}"/>
              </a:ext>
            </a:extLst>
          </p:cNvPr>
          <p:cNvSpPr>
            <a:spLocks/>
          </p:cNvSpPr>
          <p:nvPr/>
        </p:nvSpPr>
        <p:spPr>
          <a:xfrm>
            <a:off x="16797898" y="8208218"/>
            <a:ext cx="717804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>
              <a:spcAft>
                <a:spcPts val="20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Prefer tuples, dictionaries, and sets over lists, when appropriate</a:t>
            </a:r>
          </a:p>
        </p:txBody>
      </p:sp>
      <p:cxnSp>
        <p:nvCxnSpPr>
          <p:cNvPr id="542" name="Straight Connector 541">
            <a:extLst>
              <a:ext uri="{FF2B5EF4-FFF2-40B4-BE49-F238E27FC236}">
                <a16:creationId xmlns:a16="http://schemas.microsoft.com/office/drawing/2014/main" id="{4B299EA9-2108-40AB-FBD1-62DBABD1426F}"/>
              </a:ext>
            </a:extLst>
          </p:cNvPr>
          <p:cNvCxnSpPr>
            <a:cxnSpLocks/>
          </p:cNvCxnSpPr>
          <p:nvPr/>
        </p:nvCxnSpPr>
        <p:spPr>
          <a:xfrm>
            <a:off x="16581153" y="8652335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3" name="Rectangle 542">
            <a:extLst>
              <a:ext uri="{FF2B5EF4-FFF2-40B4-BE49-F238E27FC236}">
                <a16:creationId xmlns:a16="http://schemas.microsoft.com/office/drawing/2014/main" id="{E4FDDDDC-F0DD-374A-74A3-E8B13296330F}"/>
              </a:ext>
            </a:extLst>
          </p:cNvPr>
          <p:cNvSpPr>
            <a:spLocks/>
          </p:cNvSpPr>
          <p:nvPr/>
        </p:nvSpPr>
        <p:spPr>
          <a:xfrm>
            <a:off x="16797898" y="8715003"/>
            <a:ext cx="7178040" cy="764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sz="1600" dirty="0" err="1">
                <a:solidFill>
                  <a:schemeClr val="tx1"/>
                </a:solidFill>
              </a:rPr>
              <a:t>Minimise</a:t>
            </a:r>
            <a:r>
              <a:rPr lang="en-US" sz="1600" dirty="0">
                <a:solidFill>
                  <a:schemeClr val="tx1"/>
                </a:solidFill>
              </a:rPr>
              <a:t> Python written: Use scientific Python packages (NumPy, </a:t>
            </a:r>
          </a:p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Pandas). NumPy arrays support broadcasting - mathematical operation is applied element-wise looping over the array explicitly</a:t>
            </a:r>
            <a:endParaRPr lang="en-US" sz="1600" dirty="0">
              <a:solidFill>
                <a:schemeClr val="tx1"/>
              </a:solidFill>
              <a:latin typeface="Segoe UI Semibold"/>
            </a:endParaRPr>
          </a:p>
        </p:txBody>
      </p:sp>
      <p:cxnSp>
        <p:nvCxnSpPr>
          <p:cNvPr id="544" name="Straight Connector 543">
            <a:extLst>
              <a:ext uri="{FF2B5EF4-FFF2-40B4-BE49-F238E27FC236}">
                <a16:creationId xmlns:a16="http://schemas.microsoft.com/office/drawing/2014/main" id="{C164BBDA-59F4-95C1-46E7-88B6530A52FD}"/>
              </a:ext>
            </a:extLst>
          </p:cNvPr>
          <p:cNvCxnSpPr>
            <a:cxnSpLocks/>
          </p:cNvCxnSpPr>
          <p:nvPr/>
        </p:nvCxnSpPr>
        <p:spPr>
          <a:xfrm>
            <a:off x="16581153" y="9529471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6" name="Rectangle 555">
            <a:extLst>
              <a:ext uri="{FF2B5EF4-FFF2-40B4-BE49-F238E27FC236}">
                <a16:creationId xmlns:a16="http://schemas.microsoft.com/office/drawing/2014/main" id="{AF72284D-F14A-0274-FA05-46DA36EB85E7}"/>
              </a:ext>
            </a:extLst>
          </p:cNvPr>
          <p:cNvSpPr>
            <a:spLocks/>
          </p:cNvSpPr>
          <p:nvPr/>
        </p:nvSpPr>
        <p:spPr>
          <a:xfrm>
            <a:off x="16797898" y="9682318"/>
            <a:ext cx="6964980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Newer is often faster: When possible, use the latest versions of Python and packages</a:t>
            </a:r>
            <a:endParaRPr lang="en-US" sz="1600" dirty="0">
              <a:solidFill>
                <a:prstClr val="black"/>
              </a:solidFill>
            </a:endParaRPr>
          </a:p>
        </p:txBody>
      </p:sp>
      <p:cxnSp>
        <p:nvCxnSpPr>
          <p:cNvPr id="557" name="Straight Connector 556">
            <a:extLst>
              <a:ext uri="{FF2B5EF4-FFF2-40B4-BE49-F238E27FC236}">
                <a16:creationId xmlns:a16="http://schemas.microsoft.com/office/drawing/2014/main" id="{1A99DE71-91A0-E7E5-186D-E4EFC465C3F1}"/>
              </a:ext>
            </a:extLst>
          </p:cNvPr>
          <p:cNvCxnSpPr>
            <a:cxnSpLocks/>
          </p:cNvCxnSpPr>
          <p:nvPr/>
        </p:nvCxnSpPr>
        <p:spPr>
          <a:xfrm>
            <a:off x="16581153" y="10208256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Rectangle 558">
            <a:extLst>
              <a:ext uri="{FF2B5EF4-FFF2-40B4-BE49-F238E27FC236}">
                <a16:creationId xmlns:a16="http://schemas.microsoft.com/office/drawing/2014/main" id="{808DCF4F-D73A-6B88-57AF-47FF0CEC8345}"/>
              </a:ext>
            </a:extLst>
          </p:cNvPr>
          <p:cNvSpPr>
            <a:spLocks/>
          </p:cNvSpPr>
          <p:nvPr/>
        </p:nvSpPr>
        <p:spPr>
          <a:xfrm>
            <a:off x="16809381" y="10458139"/>
            <a:ext cx="717804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>
              <a:spcAft>
                <a:spcPts val="20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One large file is better than many small files</a:t>
            </a:r>
          </a:p>
        </p:txBody>
      </p: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36184654-5E52-0423-F412-AA9DCA2D2552}"/>
              </a:ext>
            </a:extLst>
          </p:cNvPr>
          <p:cNvCxnSpPr>
            <a:cxnSpLocks/>
          </p:cNvCxnSpPr>
          <p:nvPr/>
        </p:nvCxnSpPr>
        <p:spPr>
          <a:xfrm>
            <a:off x="16581153" y="10836966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3" name="Rectangle 562">
            <a:extLst>
              <a:ext uri="{FF2B5EF4-FFF2-40B4-BE49-F238E27FC236}">
                <a16:creationId xmlns:a16="http://schemas.microsoft.com/office/drawing/2014/main" id="{E51B9BB8-0F15-4B57-E465-C1CC57252606}"/>
              </a:ext>
            </a:extLst>
          </p:cNvPr>
          <p:cNvSpPr>
            <a:spLocks/>
          </p:cNvSpPr>
          <p:nvPr/>
        </p:nvSpPr>
        <p:spPr>
          <a:xfrm>
            <a:off x="16797898" y="10953460"/>
            <a:ext cx="717804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marL="514350" lvl="0">
              <a:spcAft>
                <a:spcPts val="200"/>
              </a:spcAft>
              <a:defRPr/>
            </a:pPr>
            <a:r>
              <a:rPr lang="en-US" sz="1600" dirty="0">
                <a:solidFill>
                  <a:schemeClr val="tx1"/>
                </a:solidFill>
              </a:rPr>
              <a:t>Avoid destroying and recreating objects</a:t>
            </a:r>
            <a:endParaRPr lang="en-US" sz="1600" dirty="0">
              <a:solidFill>
                <a:prstClr val="black"/>
              </a:solidFill>
            </a:endParaRPr>
          </a:p>
        </p:txBody>
      </p: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FBF06C40-2171-D5EC-6422-1A6F89E1F86A}"/>
              </a:ext>
            </a:extLst>
          </p:cNvPr>
          <p:cNvCxnSpPr>
            <a:cxnSpLocks/>
          </p:cNvCxnSpPr>
          <p:nvPr/>
        </p:nvCxnSpPr>
        <p:spPr>
          <a:xfrm>
            <a:off x="16611125" y="11355313"/>
            <a:ext cx="71817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8" name="Graphic 567" descr="Single gear outline">
            <a:extLst>
              <a:ext uri="{FF2B5EF4-FFF2-40B4-BE49-F238E27FC236}">
                <a16:creationId xmlns:a16="http://schemas.microsoft.com/office/drawing/2014/main" id="{665331BB-BA8B-78E7-E1AA-BED231E96D4F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6729365" y="6995934"/>
            <a:ext cx="469014" cy="469014"/>
          </a:xfrm>
          <a:prstGeom prst="rect">
            <a:avLst/>
          </a:prstGeom>
        </p:spPr>
      </p:pic>
      <p:pic>
        <p:nvPicPr>
          <p:cNvPr id="570" name="Graphic 569" descr="List outline">
            <a:extLst>
              <a:ext uri="{FF2B5EF4-FFF2-40B4-BE49-F238E27FC236}">
                <a16:creationId xmlns:a16="http://schemas.microsoft.com/office/drawing/2014/main" id="{F7B5CF36-939F-0CB3-FB03-B4D5BB004AEC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16726328" y="7602198"/>
            <a:ext cx="426186" cy="426186"/>
          </a:xfrm>
          <a:prstGeom prst="rect">
            <a:avLst/>
          </a:prstGeom>
        </p:spPr>
      </p:pic>
      <p:pic>
        <p:nvPicPr>
          <p:cNvPr id="571" name="Graphic 570" descr="Books outline">
            <a:extLst>
              <a:ext uri="{FF2B5EF4-FFF2-40B4-BE49-F238E27FC236}">
                <a16:creationId xmlns:a16="http://schemas.microsoft.com/office/drawing/2014/main" id="{255908E3-9E8E-60B0-D162-3214DD5AA161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16726328" y="8156614"/>
            <a:ext cx="469014" cy="469014"/>
          </a:xfrm>
          <a:prstGeom prst="rect">
            <a:avLst/>
          </a:prstGeom>
        </p:spPr>
      </p:pic>
      <p:pic>
        <p:nvPicPr>
          <p:cNvPr id="572" name="Graphic 571" descr="Remote learning science outline">
            <a:extLst>
              <a:ext uri="{FF2B5EF4-FFF2-40B4-BE49-F238E27FC236}">
                <a16:creationId xmlns:a16="http://schemas.microsoft.com/office/drawing/2014/main" id="{189825E3-3F26-62F3-32FA-BE37087EF8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16726326" y="8850078"/>
            <a:ext cx="469014" cy="469014"/>
          </a:xfrm>
          <a:prstGeom prst="rect">
            <a:avLst/>
          </a:prstGeom>
        </p:spPr>
      </p:pic>
      <p:pic>
        <p:nvPicPr>
          <p:cNvPr id="573" name="Graphic 572" descr="Eraser outline">
            <a:extLst>
              <a:ext uri="{FF2B5EF4-FFF2-40B4-BE49-F238E27FC236}">
                <a16:creationId xmlns:a16="http://schemas.microsoft.com/office/drawing/2014/main" id="{DCB98A4D-10FB-803A-9E51-390463BB1551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16797898" y="10847936"/>
            <a:ext cx="469014" cy="469014"/>
          </a:xfrm>
          <a:prstGeom prst="rect">
            <a:avLst/>
          </a:prstGeom>
        </p:spPr>
      </p:pic>
      <p:pic>
        <p:nvPicPr>
          <p:cNvPr id="574" name="Graphic 573" descr="Document outline">
            <a:extLst>
              <a:ext uri="{FF2B5EF4-FFF2-40B4-BE49-F238E27FC236}">
                <a16:creationId xmlns:a16="http://schemas.microsoft.com/office/drawing/2014/main" id="{16A9180B-CF64-53AD-FD84-182A8332991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6729101" y="10328172"/>
            <a:ext cx="469014" cy="469014"/>
          </a:xfrm>
          <a:prstGeom prst="rect">
            <a:avLst/>
          </a:prstGeom>
        </p:spPr>
      </p:pic>
      <p:pic>
        <p:nvPicPr>
          <p:cNvPr id="575" name="Graphic 574" descr="Refresh outline">
            <a:extLst>
              <a:ext uri="{FF2B5EF4-FFF2-40B4-BE49-F238E27FC236}">
                <a16:creationId xmlns:a16="http://schemas.microsoft.com/office/drawing/2014/main" id="{FCB533D4-43B0-0E47-D85C-3A4972E8D5BA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16726326" y="9660159"/>
            <a:ext cx="469014" cy="469014"/>
          </a:xfrm>
          <a:prstGeom prst="rect">
            <a:avLst/>
          </a:prstGeom>
        </p:spPr>
      </p:pic>
      <p:sp>
        <p:nvSpPr>
          <p:cNvPr id="2" name="RStudio® is a trademark of RStudio, Inc.  •  CC BY SA Your Name •  your@email.com  •  844-448-1212 • your.website.com •  Learn more at webpage or vignette   •  package version  0.5.0 •  Updated: 2017-01">
            <a:extLst>
              <a:ext uri="{FF2B5EF4-FFF2-40B4-BE49-F238E27FC236}">
                <a16:creationId xmlns:a16="http://schemas.microsoft.com/office/drawing/2014/main" id="{82A7943A-7AB9-426C-B701-AB3F40BC3E55}"/>
              </a:ext>
            </a:extLst>
          </p:cNvPr>
          <p:cNvSpPr txBox="1"/>
          <p:nvPr/>
        </p:nvSpPr>
        <p:spPr>
          <a:xfrm>
            <a:off x="807353" y="13358520"/>
            <a:ext cx="23112338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lc="http://schemas.openxmlformats.org/drawingml/2006/lockedCanvas"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54570" tIns="54570" rIns="54570" bIns="5457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n-GB" sz="1200" dirty="0"/>
              <a:t>CC-BY-SA Saranjeet Kaur Bhogal, Jost </a:t>
            </a:r>
            <a:r>
              <a:rPr lang="en-GB" sz="1200" dirty="0" err="1"/>
              <a:t>Migenda</a:t>
            </a:r>
            <a:r>
              <a:rPr lang="en-GB" sz="1200" dirty="0"/>
              <a:t> • Learn more at </a:t>
            </a:r>
            <a:r>
              <a:rPr lang="en-GB" sz="1200" b="1" dirty="0"/>
              <a:t>carpentries-incubator.github.io/</a:t>
            </a:r>
            <a:r>
              <a:rPr lang="en-GB" sz="1200" b="1" dirty="0" err="1"/>
              <a:t>pando</a:t>
            </a:r>
            <a:r>
              <a:rPr lang="en-GB" sz="1200" b="1" dirty="0"/>
              <a:t>-python</a:t>
            </a:r>
            <a:r>
              <a:rPr lang="en-GB" sz="1200" dirty="0"/>
              <a:t> •</a:t>
            </a:r>
            <a:r>
              <a:rPr sz="1200" dirty="0"/>
              <a:t> Updated: 20</a:t>
            </a:r>
            <a:r>
              <a:rPr lang="en-GB" sz="1200" dirty="0"/>
              <a:t>26</a:t>
            </a:r>
            <a:r>
              <a:rPr sz="1200" dirty="0"/>
              <a:t>-</a:t>
            </a:r>
            <a:r>
              <a:rPr lang="en-GB" sz="1200" dirty="0"/>
              <a:t>03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39541019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VIOUSNAME" val="https://microsoft-my.sharepoint.com/personal/v-rherodaa_microsoft_com/Documents/Microsoft Teams Chat Files/Cheatsheets - Spec for R and Python package - Updated.pptx"/>
  <p:tag name="ISNEWSLIDENUMBER" val="False"/>
</p:tagLst>
</file>

<file path=ppt/theme/theme1.xml><?xml version="1.0" encoding="utf-8"?>
<a:theme xmlns:a="http://schemas.openxmlformats.org/drawingml/2006/main" name="Office Theme">
  <a:themeElements>
    <a:clrScheme name="Custom 34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70C0"/>
      </a:hlink>
      <a:folHlink>
        <a:srgbClr val="96607D"/>
      </a:folHlink>
    </a:clrScheme>
    <a:fontScheme name="Custom 2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49d1f944-d188-4381-99f4-def42f295732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260432B3272249B54B452608E7C89E" ma:contentTypeVersion="16" ma:contentTypeDescription="Create a new document." ma:contentTypeScope="" ma:versionID="3b3ac36f91a4a3d89ee3cc8fff12a4b7">
  <xsd:schema xmlns:xsd="http://www.w3.org/2001/XMLSchema" xmlns:xs="http://www.w3.org/2001/XMLSchema" xmlns:p="http://schemas.microsoft.com/office/2006/metadata/properties" xmlns:ns1="http://schemas.microsoft.com/sharepoint/v3" xmlns:ns2="49d1f944-d188-4381-99f4-def42f295732" xmlns:ns3="230e9df3-be65-4c73-a93b-d1236ebd677e" targetNamespace="http://schemas.microsoft.com/office/2006/metadata/properties" ma:root="true" ma:fieldsID="20793244aef1ea3b4055b7a1a531d0e7" ns1:_="" ns2:_="" ns3:_="">
    <xsd:import namespace="http://schemas.microsoft.com/sharepoint/v3"/>
    <xsd:import namespace="49d1f944-d188-4381-99f4-def42f295732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1f944-d188-4381-99f4-def42f2957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e5908623-42be-4dc8-8af8-7c12909c4aff}" ma:internalName="TaxCatchAll" ma:showField="CatchAllData" ma:web="2b88ed76-0dfb-41a2-99c7-ba5303478d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3121672-B974-458E-BE62-3388420025F5}">
  <ds:schemaRefs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230e9df3-be65-4c73-a93b-d1236ebd677e"/>
    <ds:schemaRef ds:uri="49d1f944-d188-4381-99f4-def42f295732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EC13EB96-EC69-45FF-A690-07EA885604C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9d1f944-d188-4381-99f4-def42f295732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D71FD8C-838C-4C60-ADA2-9C781E93CA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6847</TotalTime>
  <Words>624</Words>
  <Application>Microsoft Office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Courier New</vt:lpstr>
      <vt:lpstr>Segoe UI</vt:lpstr>
      <vt:lpstr>Segoe UI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Rishikanth Heroda A (Calibrated Consulting &amp; Analyt)</dc:creator>
  <cp:lastModifiedBy>Bhogal, Saranjeet Kaur S S</cp:lastModifiedBy>
  <cp:revision>7</cp:revision>
  <dcterms:created xsi:type="dcterms:W3CDTF">2024-11-14T15:19:10Z</dcterms:created>
  <dcterms:modified xsi:type="dcterms:W3CDTF">2026-03-30T19:09:08Z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0x01010064260432B3272249B54B452608E7C89E</vt:lpwstr>
  </property>
</Properties>
</file>